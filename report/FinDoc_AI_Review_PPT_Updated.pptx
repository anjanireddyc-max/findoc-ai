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Props1.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viewProps1.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sldIdLst>
    <p:sldId id="256" r:id="rId5"/>
    <p:sldId id="257" r:id="rId6"/>
    <p:sldId id="258" r:id="rId7"/>
    <p:sldId id="259" r:id="rId8"/>
    <p:sldId id="260" r:id="rId9"/>
    <p:sldId id="261" r:id="rId10"/>
    <p:sldId id="265" r:id="rId14"/>
    <p:sldId id="266" r:id="rId15"/>
    <p:sldId id="262" r:id="rId11"/>
    <p:sldId id="267" r:id="rId16"/>
    <p:sldId id="268" r:id="rId17"/>
    <p:sldId id="269" r:id="rId18"/>
    <p:sldId id="270" r:id="rId19"/>
    <p:sldId id="271" r:id="rId20"/>
    <p:sldId id="263" r:id="rId12"/>
    <p:sldId id="264" r:id="rId13"/>
  </p:sldIdLst>
  <p:sldSz cy="6858000" cx="12192000"/>
  <p:notesSz cx="6858000" cy="9144000"/>
  <p:defaultTextStyle>
    <a:defPPr lvl="0">
      <a:defRPr lang="en-US"/>
    </a:defPPr>
    <a:lvl1pPr defTabSz="457200" eaLnBrk="1" hangingPunct="1" latinLnBrk="0" lvl="0" marL="0" rtl="0" algn="l">
      <a:defRPr kern="1200" sz="1800">
        <a:solidFill>
          <a:schemeClr val="tx1"/>
        </a:solidFill>
        <a:latin typeface="+mn-lt"/>
        <a:ea typeface="+mn-ea"/>
        <a:cs typeface="+mn-cs"/>
      </a:defRPr>
    </a:lvl1pPr>
    <a:lvl2pPr defTabSz="457200" eaLnBrk="1" hangingPunct="1" latinLnBrk="0" lvl="1" marL="457200" rtl="0" algn="l">
      <a:defRPr kern="1200" sz="1800">
        <a:solidFill>
          <a:schemeClr val="tx1"/>
        </a:solidFill>
        <a:latin typeface="+mn-lt"/>
        <a:ea typeface="+mn-ea"/>
        <a:cs typeface="+mn-cs"/>
      </a:defRPr>
    </a:lvl2pPr>
    <a:lvl3pPr defTabSz="457200" eaLnBrk="1" hangingPunct="1" latinLnBrk="0" lvl="2" marL="914400" rtl="0" algn="l">
      <a:defRPr kern="1200" sz="1800">
        <a:solidFill>
          <a:schemeClr val="tx1"/>
        </a:solidFill>
        <a:latin typeface="+mn-lt"/>
        <a:ea typeface="+mn-ea"/>
        <a:cs typeface="+mn-cs"/>
      </a:defRPr>
    </a:lvl3pPr>
    <a:lvl4pPr defTabSz="457200" eaLnBrk="1" hangingPunct="1" latinLnBrk="0" lvl="3" marL="1371600" rtl="0" algn="l">
      <a:defRPr kern="1200" sz="1800">
        <a:solidFill>
          <a:schemeClr val="tx1"/>
        </a:solidFill>
        <a:latin typeface="+mn-lt"/>
        <a:ea typeface="+mn-ea"/>
        <a:cs typeface="+mn-cs"/>
      </a:defRPr>
    </a:lvl4pPr>
    <a:lvl5pPr defTabSz="457200" eaLnBrk="1" hangingPunct="1" latinLnBrk="0" lvl="4" marL="1828800" rtl="0" algn="l">
      <a:defRPr kern="1200" sz="1800">
        <a:solidFill>
          <a:schemeClr val="tx1"/>
        </a:solidFill>
        <a:latin typeface="+mn-lt"/>
        <a:ea typeface="+mn-ea"/>
        <a:cs typeface="+mn-cs"/>
      </a:defRPr>
    </a:lvl5pPr>
    <a:lvl6pPr defTabSz="457200" eaLnBrk="1" hangingPunct="1" latinLnBrk="0" lvl="5" marL="2286000" rtl="0" algn="l">
      <a:defRPr kern="1200" sz="1800">
        <a:solidFill>
          <a:schemeClr val="tx1"/>
        </a:solidFill>
        <a:latin typeface="+mn-lt"/>
        <a:ea typeface="+mn-ea"/>
        <a:cs typeface="+mn-cs"/>
      </a:defRPr>
    </a:lvl6pPr>
    <a:lvl7pPr defTabSz="457200" eaLnBrk="1" hangingPunct="1" latinLnBrk="0" lvl="6" marL="2743200" rtl="0" algn="l">
      <a:defRPr kern="1200" sz="1800">
        <a:solidFill>
          <a:schemeClr val="tx1"/>
        </a:solidFill>
        <a:latin typeface="+mn-lt"/>
        <a:ea typeface="+mn-ea"/>
        <a:cs typeface="+mn-cs"/>
      </a:defRPr>
    </a:lvl7pPr>
    <a:lvl8pPr defTabSz="457200" eaLnBrk="1" hangingPunct="1" latinLnBrk="0" lvl="7" marL="3200400" rtl="0" algn="l">
      <a:defRPr kern="1200" sz="1800">
        <a:solidFill>
          <a:schemeClr val="tx1"/>
        </a:solidFill>
        <a:latin typeface="+mn-lt"/>
        <a:ea typeface="+mn-ea"/>
        <a:cs typeface="+mn-cs"/>
      </a:defRPr>
    </a:lvl8pPr>
    <a:lvl9pPr defTabSz="457200" eaLnBrk="1" hangingPunct="1" latinLnBrk="0" lvl="8" marL="3657600" rtl="0" algn="l">
      <a:defRPr kern="1200" sz="1800">
        <a:solidFill>
          <a:schemeClr val="tx1"/>
        </a:solidFill>
        <a:latin typeface="+mn-lt"/>
        <a:ea typeface="+mn-ea"/>
        <a:cs typeface="+mn-cs"/>
      </a:defRPr>
    </a:lvl9pPr>
  </p:defaultTextStyle>
  <p:extLst>
    <p:ext uri="{EFAFB233-063F-42B5-8137-9DF3F51BA10A}">
      <p15:sldGuideLst>
        <p15:guide id="1" orient="horz" pos="2160">
          <p15:clr>
            <a:srgbClr val="A4A3A4"/>
          </p15:clr>
        </p15:guide>
        <p15:guide id="2" pos="3840">
          <p15:clr>
            <a:srgbClr val="A4A3A4"/>
          </p15:clr>
        </p15:guide>
      </p15:sldGuideLst>
    </p:ext>
  </p:extLst>
</p:presentation>
</file>

<file path=ppt/presProps1.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1.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384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1.xml"/><Relationship Id="rId3" Type="http://schemas.openxmlformats.org/officeDocument/2006/relationships/presProps" Target="presProps1.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1371601"/>
            <a:ext cx="10464800" cy="1927225"/>
          </a:xfrm>
        </p:spPr>
        <p:txBody>
          <a:bodyPr anchor="b">
            <a:noAutofit/>
          </a:bodyPr>
          <a:lstStyle>
            <a:lvl1pPr>
              <a:defRPr sz="5400" cap="all" baseline="0"/>
            </a:lvl1pPr>
          </a:lstStyle>
          <a:p>
            <a:r>
              <a:rPr lang="en-US"/>
              <a:t>Click to edit Master title style</a:t>
            </a:r>
            <a:endParaRPr lang="en-US" dirty="0"/>
          </a:p>
        </p:txBody>
      </p:sp>
      <p:sp>
        <p:nvSpPr>
          <p:cNvPr id="3" name="Subtitle 2"/>
          <p:cNvSpPr>
            <a:spLocks noGrp="1"/>
          </p:cNvSpPr>
          <p:nvPr>
            <p:ph type="subTitle" idx="1"/>
          </p:nvPr>
        </p:nvSpPr>
        <p:spPr>
          <a:xfrm>
            <a:off x="914400" y="3505200"/>
            <a:ext cx="8534400" cy="175260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13A6A79-D85F-4D25-B5FC-3B5D6704A7FD}" type="datetimeFigureOut">
              <a:rPr lang="en-IN" smtClean="0"/>
              <a:t>07-08-2026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B3DA358-1224-4AAF-A557-330CB2F189CB}" type="slidenum">
              <a:rPr lang="en-IN" smtClean="0"/>
              <a:t>‹#›</a:t>
            </a:fld>
            <a:endParaRPr lang="en-IN"/>
          </a:p>
        </p:txBody>
      </p:sp>
      <p:cxnSp>
        <p:nvCxnSpPr>
          <p:cNvPr id="8" name="Straight Connector 7"/>
          <p:cNvCxnSpPr/>
          <p:nvPr/>
        </p:nvCxnSpPr>
        <p:spPr>
          <a:xfrm>
            <a:off x="914400" y="3398520"/>
            <a:ext cx="1046480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3A6A79-D85F-4D25-B5FC-3B5D6704A7FD}" type="datetimeFigureOut">
              <a:rPr lang="en-IN" smtClean="0"/>
              <a:t>07-08-2026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B3DA358-1224-4AAF-A557-330CB2F189CB}" type="slidenum">
              <a:rPr lang="en-IN" smtClean="0"/>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963084" y="2362201"/>
            <a:ext cx="10363200" cy="2200275"/>
          </a:xfrm>
        </p:spPr>
        <p:txBody>
          <a:bodyPr anchor="b">
            <a:normAutofit/>
          </a:bodyPr>
          <a:lstStyle>
            <a:lvl1pPr algn="l">
              <a:defRPr sz="4800" b="0" cap="all"/>
            </a:lvl1pPr>
          </a:lstStyle>
          <a:p>
            <a:r>
              <a:rPr lang="en-US"/>
              <a:t>Click to edit Master title style</a:t>
            </a:r>
            <a:endParaRPr lang="en-US" dirty="0"/>
          </a:p>
        </p:txBody>
      </p:sp>
      <p:sp>
        <p:nvSpPr>
          <p:cNvPr id="3" name="Text Placeholder 2"/>
          <p:cNvSpPr>
            <a:spLocks noGrp="1"/>
          </p:cNvSpPr>
          <p:nvPr>
            <p:ph type="body" idx="1"/>
          </p:nvPr>
        </p:nvSpPr>
        <p:spPr>
          <a:xfrm>
            <a:off x="963084" y="4626865"/>
            <a:ext cx="10363200" cy="1500187"/>
          </a:xfrm>
        </p:spPr>
        <p:txBody>
          <a:bodyPr anchor="t">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13A6A79-D85F-4D25-B5FC-3B5D6704A7FD}" type="datetimeFigureOut">
              <a:rPr lang="en-IN" smtClean="0"/>
              <a:t>07-08-2026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B3DA358-1224-4AAF-A557-330CB2F189CB}" type="slidenum">
              <a:rPr lang="en-IN" smtClean="0"/>
              <a:t>‹#›</a:t>
            </a:fld>
            <a:endParaRPr lang="en-IN"/>
          </a:p>
        </p:txBody>
      </p:sp>
      <p:cxnSp>
        <p:nvCxnSpPr>
          <p:cNvPr id="7" name="Straight Connector 6"/>
          <p:cNvCxnSpPr/>
          <p:nvPr/>
        </p:nvCxnSpPr>
        <p:spPr>
          <a:xfrm>
            <a:off x="975360" y="4599432"/>
            <a:ext cx="1046480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73352"/>
            <a:ext cx="53848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673352"/>
            <a:ext cx="53848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13A6A79-D85F-4D25-B5FC-3B5D6704A7FD}" type="datetimeFigureOut">
              <a:rPr lang="en-IN" smtClean="0"/>
              <a:t>07-08-2026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9B3DA358-1224-4AAF-A557-330CB2F189CB}" type="slidenum">
              <a:rPr lang="en-IN" smtClean="0"/>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09600" y="1676400"/>
            <a:ext cx="524256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438400"/>
            <a:ext cx="524256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39840" y="1676400"/>
            <a:ext cx="524256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39840" y="2438400"/>
            <a:ext cx="524256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13A6A79-D85F-4D25-B5FC-3B5D6704A7FD}" type="datetimeFigureOut">
              <a:rPr lang="en-IN" smtClean="0"/>
              <a:t>07-08-2026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9B3DA358-1224-4AAF-A557-330CB2F189CB}" type="slidenum">
              <a:rPr lang="en-IN" smtClean="0"/>
              <a:t>‹#›</a:t>
            </a:fld>
            <a:endParaRPr lang="en-IN"/>
          </a:p>
        </p:txBody>
      </p:sp>
      <p:cxnSp>
        <p:nvCxnSpPr>
          <p:cNvPr id="11" name="Straight Connector 10"/>
          <p:cNvCxnSpPr/>
          <p:nvPr/>
        </p:nvCxnSpPr>
        <p:spPr>
          <a:xfrm rot="5400000">
            <a:off x="3741949" y="4045691"/>
            <a:ext cx="4709160" cy="1059"/>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13A6A79-D85F-4D25-B5FC-3B5D6704A7FD}" type="datetimeFigureOut">
              <a:rPr lang="en-IN" smtClean="0"/>
              <a:t>07-08-2026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9B3DA358-1224-4AAF-A557-330CB2F189CB}" type="slidenum">
              <a:rPr lang="en-IN" smtClean="0"/>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3A6A79-D85F-4D25-B5FC-3B5D6704A7FD}" type="datetimeFigureOut">
              <a:rPr lang="en-IN" smtClean="0"/>
              <a:t>07-08-2026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9B3DA358-1224-4AAF-A557-330CB2F189CB}" type="slidenum">
              <a:rPr lang="en-IN" smtClean="0"/>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792080"/>
            <a:ext cx="2852928" cy="1261872"/>
          </a:xfrm>
        </p:spPr>
        <p:txBody>
          <a:bodyPr anchor="b">
            <a:no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3962400" y="792080"/>
            <a:ext cx="7620000" cy="55778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09601" y="2130553"/>
            <a:ext cx="2852928" cy="424361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13A6A79-D85F-4D25-B5FC-3B5D6704A7FD}" type="datetimeFigureOut">
              <a:rPr lang="en-IN" smtClean="0"/>
              <a:t>07-08-2026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9B3DA358-1224-4AAF-A557-330CB2F189CB}" type="slidenum">
              <a:rPr lang="en-IN" smtClean="0"/>
              <a:t>‹#›</a:t>
            </a:fld>
            <a:endParaRPr lang="en-IN"/>
          </a:p>
        </p:txBody>
      </p:sp>
      <p:cxnSp>
        <p:nvCxnSpPr>
          <p:cNvPr id="9" name="Straight Connector 8"/>
          <p:cNvCxnSpPr/>
          <p:nvPr/>
        </p:nvCxnSpPr>
        <p:spPr>
          <a:xfrm rot="5400000">
            <a:off x="912152" y="3579942"/>
            <a:ext cx="5577840" cy="211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792480"/>
            <a:ext cx="2856907" cy="1264920"/>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p:cNvSpPr>
          <p:nvPr>
            <p:ph type="pic" idx="1"/>
          </p:nvPr>
        </p:nvSpPr>
        <p:spPr>
          <a:xfrm>
            <a:off x="3811480" y="838201"/>
            <a:ext cx="787252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09600" y="2133600"/>
            <a:ext cx="2852928" cy="424281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13A6A79-D85F-4D25-B5FC-3B5D6704A7FD}" type="datetimeFigureOut">
              <a:rPr lang="en-IN" smtClean="0"/>
              <a:t>07-08-2026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9B3DA358-1224-4AAF-A557-330CB2F189CB}" type="slidenum">
              <a:rPr lang="en-IN" smtClean="0"/>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3A6A79-D85F-4D25-B5FC-3B5D6704A7FD}" type="datetimeFigureOut">
              <a:rPr lang="en-IN" smtClean="0"/>
              <a:t>07-08-2026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B3DA358-1224-4AAF-A557-330CB2F189CB}" type="slidenum">
              <a:rPr lang="en-IN" smtClean="0"/>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609600"/>
            <a:ext cx="2743200" cy="5867400"/>
          </a:xfrm>
        </p:spPr>
        <p:txBody>
          <a:bodyPr vert="eaVert" anchor="b"/>
          <a:lstStyle/>
          <a:p>
            <a:r>
              <a:rPr lang="en-US"/>
              <a:t>Click to edit Master title style</a:t>
            </a:r>
            <a:endParaRPr lang="en-US" dirty="0"/>
          </a:p>
        </p:txBody>
      </p:sp>
      <p:sp>
        <p:nvSpPr>
          <p:cNvPr id="3" name="Vertical Text Placeholder 2"/>
          <p:cNvSpPr>
            <a:spLocks noGrp="1"/>
          </p:cNvSpPr>
          <p:nvPr>
            <p:ph type="body" orient="vert" idx="1"/>
          </p:nvPr>
        </p:nvSpPr>
        <p:spPr>
          <a:xfrm>
            <a:off x="609600" y="609600"/>
            <a:ext cx="80264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13A6A79-D85F-4D25-B5FC-3B5D6704A7FD}" type="datetimeFigureOut">
              <a:rPr lang="en-IN" smtClean="0"/>
              <a:t>07-08-2026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B3DA358-1224-4AAF-A557-330CB2F189CB}" type="slidenum">
              <a:rPr lang="en-IN" smtClean="0"/>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Rectangle 9"/>
          <p:cNvSpPr/>
          <p:nvPr/>
        </p:nvSpPr>
        <p:spPr>
          <a:xfrm>
            <a:off x="0" y="220786"/>
            <a:ext cx="12192000" cy="2286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609600" y="533400"/>
            <a:ext cx="10972800" cy="9906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09600" y="1600200"/>
            <a:ext cx="10972800" cy="4876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6"/>
          <p:cNvSpPr/>
          <p:nvPr/>
        </p:nvSpPr>
        <p:spPr>
          <a:xfrm>
            <a:off x="0" y="0"/>
            <a:ext cx="12192000" cy="3657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p:cNvSpPr>
            <a:spLocks noGrp="1"/>
          </p:cNvSpPr>
          <p:nvPr>
            <p:ph type="dt" sz="half" idx="2"/>
          </p:nvPr>
        </p:nvSpPr>
        <p:spPr>
          <a:xfrm>
            <a:off x="609600" y="18288"/>
            <a:ext cx="3860800" cy="329184"/>
          </a:xfrm>
          <a:prstGeom prst="rect">
            <a:avLst/>
          </a:prstGeom>
        </p:spPr>
        <p:txBody>
          <a:bodyPr vert="horz" lIns="91440" tIns="45720" rIns="91440" bIns="45720" rtlCol="0" anchor="ctr"/>
          <a:lstStyle>
            <a:lvl1pPr algn="l">
              <a:defRPr sz="1200">
                <a:solidFill>
                  <a:srgbClr val="FFFFFF"/>
                </a:solidFill>
              </a:defRPr>
            </a:lvl1pPr>
          </a:lstStyle>
          <a:p>
            <a:fld id="{413A6A79-D85F-4D25-B5FC-3B5D6704A7FD}" type="datetimeFigureOut">
              <a:rPr lang="en-IN" smtClean="0"/>
              <a:t>07-08-2026</a:t>
            </a:fld>
            <a:endParaRPr lang="en-IN"/>
          </a:p>
        </p:txBody>
      </p:sp>
      <p:sp>
        <p:nvSpPr>
          <p:cNvPr id="5" name="Footer Placeholder 4"/>
          <p:cNvSpPr>
            <a:spLocks noGrp="1"/>
          </p:cNvSpPr>
          <p:nvPr>
            <p:ph type="ftr" sz="quarter" idx="3"/>
          </p:nvPr>
        </p:nvSpPr>
        <p:spPr>
          <a:xfrm>
            <a:off x="4572000" y="18288"/>
            <a:ext cx="5486400" cy="329184"/>
          </a:xfrm>
          <a:prstGeom prst="rect">
            <a:avLst/>
          </a:prstGeom>
        </p:spPr>
        <p:txBody>
          <a:bodyPr vert="horz" lIns="91440" tIns="45720" rIns="91440" bIns="45720" rtlCol="0" anchor="ctr"/>
          <a:lstStyle>
            <a:lvl1pPr algn="ctr">
              <a:defRPr sz="1200">
                <a:solidFill>
                  <a:srgbClr val="FFFFFF"/>
                </a:solidFill>
              </a:defRPr>
            </a:lvl1pPr>
          </a:lstStyle>
          <a:p>
            <a:endParaRPr lang="en-IN"/>
          </a:p>
        </p:txBody>
      </p:sp>
      <p:sp>
        <p:nvSpPr>
          <p:cNvPr id="6" name="Slide Number Placeholder 5"/>
          <p:cNvSpPr>
            <a:spLocks noGrp="1"/>
          </p:cNvSpPr>
          <p:nvPr>
            <p:ph type="sldNum" sz="quarter" idx="4"/>
          </p:nvPr>
        </p:nvSpPr>
        <p:spPr>
          <a:xfrm>
            <a:off x="10160000" y="18288"/>
            <a:ext cx="1422400" cy="329184"/>
          </a:xfrm>
          <a:prstGeom prst="rect">
            <a:avLst/>
          </a:prstGeom>
        </p:spPr>
        <p:txBody>
          <a:bodyPr vert="horz" lIns="91440" tIns="45720" rIns="91440" bIns="45720" rtlCol="0" anchor="ctr"/>
          <a:lstStyle>
            <a:lvl1pPr algn="l">
              <a:defRPr sz="1400" b="1">
                <a:solidFill>
                  <a:srgbClr val="FFFFFF"/>
                </a:solidFill>
              </a:defRPr>
            </a:lvl1pPr>
          </a:lstStyle>
          <a:p>
            <a:fld id="{9B3DA358-1224-4AAF-A557-330CB2F189CB}" type="slidenum">
              <a:rPr lang="en-IN" smtClean="0"/>
              <a:t>‹#›</a:t>
            </a:fld>
            <a:endParaRPr lang="en-IN"/>
          </a:p>
        </p:txBody>
      </p:sp>
    </p:spTree>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Lst>
  <p:txStyles>
    <p:titleStyle>
      <a:lvl1pPr algn="l" defTabSz="914400" rtl="0" eaLnBrk="1" latinLnBrk="0" hangingPunct="1">
        <a:spcBef>
          <a:spcPct val="0"/>
        </a:spcBef>
        <a:buNone/>
        <a:defRPr sz="4000" kern="1200" spc="-100" baseline="0">
          <a:solidFill>
            <a:schemeClr val="tx2"/>
          </a:solidFill>
          <a:latin typeface="+mj-lt"/>
          <a:ea typeface="+mj-ea"/>
          <a:cs typeface="+mj-cs"/>
        </a:defRPr>
      </a:lvl1pPr>
    </p:titleStyle>
    <p:body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hyperlink" Target="http://www.mallareddyuniversity.ac.in/"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7DFAB-946D-4828-BEB0-01F20722E9B4}"/>
              </a:ext>
            </a:extLst>
          </p:cNvPr>
          <p:cNvSpPr>
            <a:spLocks noGrp="1"/>
          </p:cNvSpPr>
          <p:nvPr>
            <p:ph type="title"/>
          </p:nvPr>
        </p:nvSpPr>
        <p:spPr>
          <a:xfrm>
            <a:off x="-66242" y="116429"/>
            <a:ext cx="12014522" cy="6382984"/>
          </a:xfrm>
        </p:spPr>
        <p:txBody>
          <a:bodyPr>
            <a:normAutofit fontScale="90000"/>
          </a:bodyPr>
          <a:lstStyle/>
          <a:p>
            <a:pPr algn="ctr" fontAlgn="ctr">
              <a:spcBef>
                <a:spcPts val="0"/>
              </a:spcBef>
            </a:pPr>
            <a:r>
              <a:rPr lang="en-US" sz="1800" b="1" dirty="0">
                <a:solidFill>
                  <a:schemeClr val="tx1"/>
                </a:solidFill>
                <a:effectLst/>
                <a:latin typeface="Calibri" panose="020F0502020204030204" pitchFamily="34" charset="0"/>
                <a:ea typeface="Times New Roman" panose="02020603050405020304" pitchFamily="18" charset="0"/>
                <a:cs typeface="Calibri" panose="020F0502020204030204" pitchFamily="34" charset="0"/>
              </a:rPr>
              <a:t>                                              			</a:t>
            </a:r>
            <a:br>
              <a:rPr lang="en-IN" sz="1800" dirty="0">
                <a:solidFill>
                  <a:schemeClr val="tx1"/>
                </a:solidFill>
                <a:effectLst/>
                <a:latin typeface="Calibri" panose="020F0502020204030204" pitchFamily="34" charset="0"/>
                <a:ea typeface="Times New Roman" panose="02020603050405020304" pitchFamily="18" charset="0"/>
                <a:cs typeface="Calibri" panose="020F0502020204030204" pitchFamily="34" charset="0"/>
              </a:rPr>
            </a:br>
            <a:br>
              <a:rPr lang="en-IN" sz="1800" b="1" dirty="0">
                <a:solidFill>
                  <a:schemeClr val="tx1"/>
                </a:solidFill>
                <a:effectLst/>
                <a:latin typeface="Calibri" panose="020F0502020204030204" pitchFamily="34" charset="0"/>
                <a:ea typeface="Times New Roman" panose="02020603050405020304" pitchFamily="18" charset="0"/>
                <a:cs typeface="Calibri" panose="020F0502020204030204" pitchFamily="34" charset="0"/>
              </a:rPr>
            </a:br>
            <a:r>
              <a:rPr lang="en-IN" sz="2000" b="1" cap="none" dirty="0">
                <a:solidFill>
                  <a:schemeClr val="tx1"/>
                </a:solidFill>
                <a:effectLst/>
                <a:latin typeface="Calibri" panose="020F0502020204030204" pitchFamily="34" charset="0"/>
                <a:ea typeface="Times New Roman" panose="02020603050405020304" pitchFamily="18" charset="0"/>
                <a:cs typeface="Calibri" panose="020F0502020204030204" pitchFamily="34" charset="0"/>
              </a:rPr>
              <a:t>                                     		   </a:t>
            </a:r>
            <a:br>
              <a:rPr lang="en-IN" sz="2000" b="1" cap="none" dirty="0">
                <a:solidFill>
                  <a:schemeClr val="tx1"/>
                </a:solidFill>
                <a:effectLst/>
                <a:latin typeface="Calibri" panose="020F0502020204030204" pitchFamily="34" charset="0"/>
                <a:ea typeface="Times New Roman" panose="02020603050405020304" pitchFamily="18" charset="0"/>
                <a:cs typeface="Calibri" panose="020F0502020204030204" pitchFamily="34" charset="0"/>
              </a:rPr>
            </a:br>
            <a:r>
              <a:rPr lang="en-IN" sz="2000" b="1" dirty="0">
                <a:solidFill>
                  <a:schemeClr val="tx1"/>
                </a:solidFill>
                <a:latin typeface="Calibri" panose="020F0502020204030204" pitchFamily="34" charset="0"/>
                <a:ea typeface="Times New Roman" panose="02020603050405020304" pitchFamily="18" charset="0"/>
                <a:cs typeface="Calibri" panose="020F0502020204030204" pitchFamily="34" charset="0"/>
              </a:rPr>
              <a:t>				          </a:t>
            </a:r>
            <a:br>
              <a:rPr lang="en-IN" sz="2000" b="1" dirty="0">
                <a:solidFill>
                  <a:schemeClr val="tx1"/>
                </a:solidFill>
                <a:latin typeface="Calibri" panose="020F0502020204030204" pitchFamily="34" charset="0"/>
                <a:ea typeface="Times New Roman" panose="02020603050405020304" pitchFamily="18" charset="0"/>
                <a:cs typeface="Calibri" panose="020F0502020204030204" pitchFamily="34" charset="0"/>
              </a:rPr>
            </a:br>
            <a:br>
              <a:rPr lang="en-IN" sz="2000" b="1" dirty="0">
                <a:solidFill>
                  <a:schemeClr val="tx1"/>
                </a:solidFill>
                <a:latin typeface="Calibri" panose="020F0502020204030204" pitchFamily="34" charset="0"/>
                <a:ea typeface="Times New Roman" panose="02020603050405020304" pitchFamily="18" charset="0"/>
                <a:cs typeface="Calibri" panose="020F0502020204030204" pitchFamily="34" charset="0"/>
              </a:rPr>
            </a:br>
            <a:br>
              <a:rPr lang="en-IN" sz="2000" b="1" dirty="0">
                <a:solidFill>
                  <a:schemeClr val="tx1"/>
                </a:solidFill>
                <a:latin typeface="Calibri" panose="020F0502020204030204" pitchFamily="34" charset="0"/>
                <a:ea typeface="Times New Roman" panose="02020603050405020304" pitchFamily="18" charset="0"/>
                <a:cs typeface="Calibri" panose="020F0502020204030204" pitchFamily="34" charset="0"/>
              </a:rPr>
            </a:br>
            <a:r>
              <a:rPr lang="en-IN" sz="2000" b="1" dirty="0">
                <a:solidFill>
                  <a:schemeClr val="tx1"/>
                </a:solidFill>
                <a:latin typeface="Calibri" panose="020F0502020204030204" pitchFamily="34" charset="0"/>
                <a:ea typeface="Times New Roman" panose="02020603050405020304" pitchFamily="18" charset="0"/>
                <a:cs typeface="Calibri" panose="020F0502020204030204" pitchFamily="34" charset="0"/>
              </a:rPr>
              <a:t>  </a:t>
            </a:r>
            <a:r>
              <a:rPr lang="en-US" sz="2400" b="1" cap="none" dirty="0">
                <a:solidFill>
                  <a:srgbClr val="FF0000"/>
                </a:solidFill>
                <a:effectLst/>
                <a:latin typeface="Times New Roman" panose="02020603050405020304" pitchFamily="18" charset="0"/>
                <a:ea typeface="Times New Roman" panose="02020603050405020304" pitchFamily="18" charset="0"/>
                <a:cs typeface="Times New Roman" panose="02020603050405020304" pitchFamily="18" charset="0"/>
              </a:rPr>
              <a:t>Department of </a:t>
            </a:r>
            <a:r>
              <a:rPr lang="en-US" sz="2400" b="1" dirty="0">
                <a:solidFill>
                  <a:srgbClr val="FF0000"/>
                </a:solidFill>
                <a:latin typeface="Times New Roman" panose="02020603050405020304" pitchFamily="18" charset="0"/>
                <a:ea typeface="Times New Roman" panose="02020603050405020304" pitchFamily="18" charset="0"/>
                <a:cs typeface="Times New Roman" panose="02020603050405020304" pitchFamily="18" charset="0"/>
              </a:rPr>
              <a:t> Information Technology</a:t>
            </a:r>
            <a:br>
              <a:rPr lang="en-US" sz="1800" b="1" cap="none" dirty="0">
                <a:solidFill>
                  <a:srgbClr val="FF0000"/>
                </a:solidFill>
                <a:effectLst/>
                <a:latin typeface="Times New Roman" panose="02020603050405020304" pitchFamily="18" charset="0"/>
                <a:ea typeface="Times New Roman" panose="02020603050405020304" pitchFamily="18" charset="0"/>
                <a:cs typeface="Times New Roman" panose="02020603050405020304" pitchFamily="18" charset="0"/>
              </a:rPr>
            </a:br>
            <a:r>
              <a:rPr lang="en-US" sz="1800" b="1"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i="0" u="none" strike="noStrike" kern="1200" dirty="0">
                <a:solidFill>
                  <a:srgbClr val="0070C0"/>
                </a:solidFill>
                <a:effectLst/>
                <a:latin typeface="Arial" panose="020B0604020202020204" pitchFamily="34" charset="0"/>
              </a:rPr>
              <a:t>III </a:t>
            </a:r>
            <a:r>
              <a:rPr lang="en-US" sz="1800" b="1" i="0" u="none" strike="noStrike" kern="1200" dirty="0" err="1">
                <a:solidFill>
                  <a:srgbClr val="0070C0"/>
                </a:solidFill>
                <a:effectLst/>
                <a:latin typeface="Arial" panose="020B0604020202020204" pitchFamily="34" charset="0"/>
              </a:rPr>
              <a:t>B.Tech</a:t>
            </a:r>
            <a:r>
              <a:rPr lang="en-US" sz="1800" b="1" i="0" u="none" strike="noStrike" kern="1200" dirty="0">
                <a:solidFill>
                  <a:srgbClr val="0070C0"/>
                </a:solidFill>
                <a:effectLst/>
                <a:latin typeface="Arial" panose="020B0604020202020204" pitchFamily="34" charset="0"/>
              </a:rPr>
              <a:t> I Sem - AD</a:t>
            </a:r>
            <a:br>
              <a:rPr lang="en-IN" sz="2800" b="0" i="0" u="none" strike="noStrike" dirty="0">
                <a:effectLst/>
                <a:latin typeface="Arial" panose="020B0604020202020204" pitchFamily="34" charset="0"/>
              </a:rPr>
            </a:br>
            <a:r>
              <a:rPr lang="en-US" sz="1800" b="1" i="0" u="none" strike="noStrike" kern="1200" dirty="0">
                <a:solidFill>
                  <a:srgbClr val="0070C0"/>
                </a:solidFill>
                <a:effectLst/>
                <a:latin typeface="Arial" panose="020B0604020202020204" pitchFamily="34" charset="0"/>
              </a:rPr>
              <a:t>Industry Oriented Internship – Deep Learning Techniques Development            MR24-1IT0163</a:t>
            </a:r>
            <a:br>
              <a:rPr lang="en-IN" sz="2800" b="0" i="0" u="none" strike="noStrike" dirty="0">
                <a:effectLst/>
                <a:latin typeface="Arial" panose="020B0604020202020204" pitchFamily="34" charset="0"/>
              </a:rPr>
            </a:br>
            <a:br>
              <a:rPr lang="en-US" sz="1800" b="1"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br>
            <a:r>
              <a:rPr lang="en-US" sz="1800" b="1"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t>                                                            </a:t>
            </a:r>
            <a:br>
              <a:rPr lang="en-US" sz="1800" b="1"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br>
            <a:r>
              <a:rPr lang="en-US" sz="1800" b="1"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t>      </a:t>
            </a:r>
            <a:r>
              <a:rPr lang="en-IN" sz="2200" dirty="0"/>
              <a:t>Financial Document Tampering Detection System Using EfficientNetV2B0 and Grad-CAM</a:t>
            </a:r>
            <a:br>
              <a:rPr lang="en-IN" dirty="0"/>
            </a:br>
            <a:r>
              <a:rPr lang="en-US" sz="1800" b="1"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 </a:t>
            </a:r>
            <a:br>
              <a:rPr lang="en-US" sz="1800" b="1" cap="none"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br>
            <a:br>
              <a:rPr lang="en-IN" sz="1800" b="1" cap="none"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br>
            <a:r>
              <a:rPr lang="en-IN" sz="1800" b="1"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             </a:t>
            </a:r>
            <a:br>
              <a:rPr lang="en-IN" sz="1800" b="1"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br>
            <a:r>
              <a:rPr lang="en-IN" sz="1800" b="1" cap="none"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n-IN" sz="1800" b="1"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t>Batch no. 13</a:t>
            </a:r>
            <a:br>
              <a:rPr lang="en-IN" sz="1800" b="1"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br>
            <a:r>
              <a:rPr lang="en-IN" sz="1800" b="1"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t>                                                                                                                                			 1. 2411IT010142 (</a:t>
            </a:r>
            <a:r>
              <a:rPr lang="en-IN" sz="1800" b="1" dirty="0" err="1">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t>M.Udayini</a:t>
            </a:r>
            <a:r>
              <a:rPr lang="en-IN" sz="1800" b="1"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t>)</a:t>
            </a:r>
            <a:br>
              <a:rPr lang="en-IN" sz="1800" b="1"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br>
            <a:r>
              <a:rPr lang="en-IN" sz="1800" b="1"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t>                                                                                                                                               		                    2. 2411IT010063(</a:t>
            </a:r>
            <a:r>
              <a:rPr lang="en-IN" sz="1800" b="1" dirty="0" err="1">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t>C.Anjani</a:t>
            </a:r>
            <a:r>
              <a:rPr lang="en-IN" sz="1800" b="1"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t>)</a:t>
            </a:r>
            <a:br>
              <a:rPr lang="en-IN" sz="1800" b="1"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br>
            <a:r>
              <a:rPr lang="en-IN" sz="1800" b="1"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t>                                                                                                      				  3. 2411IT010067(</a:t>
            </a:r>
            <a:r>
              <a:rPr lang="en-IN" sz="1800" b="1" dirty="0" err="1">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t>C.Sai</a:t>
            </a:r>
            <a:r>
              <a:rPr lang="en-IN" sz="1800" b="1"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t> Kiran)</a:t>
            </a:r>
            <a:br>
              <a:rPr lang="en-IN" sz="1800" b="1"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br>
            <a:r>
              <a:rPr lang="en-IN" sz="1800" b="1"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t>			</a:t>
            </a:r>
            <a:br>
              <a:rPr lang="en-IN" sz="1800" b="1"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br>
            <a:br>
              <a:rPr lang="en-IN" sz="1800" b="1" cap="none"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br>
            <a:br>
              <a:rPr lang="en-IN" sz="1800" b="1" cap="none"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br>
            <a:endParaRPr lang="en-IN" sz="1600" dirty="0">
              <a:solidFill>
                <a:schemeClr val="tx1"/>
              </a:solidFill>
              <a:latin typeface="Times New Roman" panose="02020603050405020304" pitchFamily="18" charset="0"/>
              <a:cs typeface="Times New Roman" panose="02020603050405020304" pitchFamily="18" charset="0"/>
            </a:endParaRPr>
          </a:p>
        </p:txBody>
      </p:sp>
      <p:pic>
        <p:nvPicPr>
          <p:cNvPr id="4" name="image1.png"/>
          <p:cNvPicPr/>
          <p:nvPr/>
        </p:nvPicPr>
        <p:blipFill>
          <a:blip r:embed="rId2" cstate="print"/>
          <a:stretch>
            <a:fillRect/>
          </a:stretch>
        </p:blipFill>
        <p:spPr>
          <a:xfrm>
            <a:off x="1981200" y="570229"/>
            <a:ext cx="7691718" cy="1145540"/>
          </a:xfrm>
          <a:prstGeom prst="rect">
            <a:avLst/>
          </a:prstGeom>
        </p:spPr>
      </p:pic>
      <p:sp>
        <p:nvSpPr>
          <p:cNvPr id="6" name="Text Box 6"/>
          <p:cNvSpPr txBox="1">
            <a:spLocks noChangeArrowheads="1"/>
          </p:cNvSpPr>
          <p:nvPr/>
        </p:nvSpPr>
        <p:spPr bwMode="auto">
          <a:xfrm>
            <a:off x="4564022" y="1429198"/>
            <a:ext cx="2753995" cy="3575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ot="0" vert="horz" wrap="square" lIns="0" tIns="0" rIns="0" bIns="0" anchor="t" anchorCtr="0" upright="1">
            <a:noAutofit/>
          </a:bodyPr>
          <a:lstStyle/>
          <a:p>
            <a:pPr marL="6350" marR="6350" algn="ctr">
              <a:lnSpc>
                <a:spcPct val="115000"/>
              </a:lnSpc>
              <a:spcAft>
                <a:spcPts val="0"/>
              </a:spcAft>
            </a:pPr>
            <a:r>
              <a:rPr lang="en-IN" sz="950" spc="-5" dirty="0">
                <a:effectLst/>
                <a:latin typeface="Calibri"/>
                <a:ea typeface="Calibri"/>
                <a:cs typeface="Times New Roman"/>
              </a:rPr>
              <a:t>(</a:t>
            </a:r>
            <a:r>
              <a:rPr lang="en-IN" sz="900" b="1" spc="-5" dirty="0" err="1">
                <a:effectLst/>
                <a:latin typeface="Calibri"/>
                <a:ea typeface="Calibri"/>
                <a:cs typeface="Times New Roman"/>
              </a:rPr>
              <a:t>Telangana</a:t>
            </a:r>
            <a:r>
              <a:rPr lang="en-IN" sz="900" b="1" spc="-10" dirty="0">
                <a:effectLst/>
                <a:latin typeface="Calibri"/>
                <a:ea typeface="Calibri"/>
                <a:cs typeface="Times New Roman"/>
              </a:rPr>
              <a:t> </a:t>
            </a:r>
            <a:r>
              <a:rPr lang="en-IN" sz="900" b="1" dirty="0">
                <a:effectLst/>
                <a:latin typeface="Calibri"/>
                <a:ea typeface="Calibri"/>
                <a:cs typeface="Times New Roman"/>
              </a:rPr>
              <a:t>State</a:t>
            </a:r>
            <a:r>
              <a:rPr lang="en-IN" sz="900" b="1" spc="-30" dirty="0">
                <a:effectLst/>
                <a:latin typeface="Calibri"/>
                <a:ea typeface="Calibri"/>
                <a:cs typeface="Times New Roman"/>
              </a:rPr>
              <a:t> </a:t>
            </a:r>
            <a:r>
              <a:rPr lang="en-IN" sz="900" b="1" dirty="0">
                <a:effectLst/>
                <a:latin typeface="Calibri"/>
                <a:ea typeface="Calibri"/>
                <a:cs typeface="Times New Roman"/>
              </a:rPr>
              <a:t>Private</a:t>
            </a:r>
            <a:r>
              <a:rPr lang="en-IN" sz="900" b="1" spc="-50" dirty="0">
                <a:effectLst/>
                <a:latin typeface="Calibri"/>
                <a:ea typeface="Calibri"/>
                <a:cs typeface="Times New Roman"/>
              </a:rPr>
              <a:t> </a:t>
            </a:r>
            <a:r>
              <a:rPr lang="en-IN" sz="900" b="1" dirty="0">
                <a:effectLst/>
                <a:latin typeface="Calibri"/>
                <a:ea typeface="Calibri"/>
                <a:cs typeface="Times New Roman"/>
              </a:rPr>
              <a:t>Universities</a:t>
            </a:r>
            <a:r>
              <a:rPr lang="en-IN" sz="900" b="1" spc="-5" dirty="0">
                <a:effectLst/>
                <a:latin typeface="Calibri"/>
                <a:ea typeface="Calibri"/>
                <a:cs typeface="Times New Roman"/>
              </a:rPr>
              <a:t> </a:t>
            </a:r>
            <a:r>
              <a:rPr lang="en-IN" sz="900" b="1" dirty="0">
                <a:effectLst/>
                <a:latin typeface="Calibri"/>
                <a:ea typeface="Calibri"/>
                <a:cs typeface="Times New Roman"/>
              </a:rPr>
              <a:t>Act</a:t>
            </a:r>
            <a:r>
              <a:rPr lang="en-IN" sz="900" b="1" spc="-45" dirty="0">
                <a:effectLst/>
                <a:latin typeface="Calibri"/>
                <a:ea typeface="Calibri"/>
                <a:cs typeface="Times New Roman"/>
              </a:rPr>
              <a:t> </a:t>
            </a:r>
            <a:r>
              <a:rPr lang="en-IN" sz="900" b="1" dirty="0">
                <a:effectLst/>
                <a:latin typeface="Calibri"/>
                <a:ea typeface="Calibri"/>
                <a:cs typeface="Times New Roman"/>
              </a:rPr>
              <a:t>No.</a:t>
            </a:r>
            <a:r>
              <a:rPr lang="en-IN" sz="900" b="1" spc="-10" dirty="0">
                <a:effectLst/>
                <a:latin typeface="Calibri"/>
                <a:ea typeface="Calibri"/>
                <a:cs typeface="Times New Roman"/>
              </a:rPr>
              <a:t> </a:t>
            </a:r>
            <a:r>
              <a:rPr lang="en-IN" sz="900" b="1" dirty="0">
                <a:effectLst/>
                <a:latin typeface="Calibri"/>
                <a:ea typeface="Calibri"/>
                <a:cs typeface="Times New Roman"/>
              </a:rPr>
              <a:t>13</a:t>
            </a:r>
            <a:r>
              <a:rPr lang="en-IN" sz="900" b="1" spc="-30" dirty="0">
                <a:effectLst/>
                <a:latin typeface="Calibri"/>
                <a:ea typeface="Calibri"/>
                <a:cs typeface="Times New Roman"/>
              </a:rPr>
              <a:t> </a:t>
            </a:r>
            <a:r>
              <a:rPr lang="en-IN" sz="900" b="1" dirty="0">
                <a:effectLst/>
                <a:latin typeface="Calibri"/>
                <a:ea typeface="Calibri"/>
                <a:cs typeface="Times New Roman"/>
              </a:rPr>
              <a:t>of</a:t>
            </a:r>
            <a:r>
              <a:rPr lang="en-IN" sz="900" b="1" spc="-40" dirty="0">
                <a:effectLst/>
                <a:latin typeface="Calibri"/>
                <a:ea typeface="Calibri"/>
                <a:cs typeface="Times New Roman"/>
              </a:rPr>
              <a:t> </a:t>
            </a:r>
            <a:r>
              <a:rPr lang="en-IN" sz="900" b="1" dirty="0">
                <a:effectLst/>
                <a:latin typeface="Calibri"/>
                <a:ea typeface="Calibri"/>
                <a:cs typeface="Times New Roman"/>
              </a:rPr>
              <a:t>2020</a:t>
            </a:r>
            <a:r>
              <a:rPr lang="en-IN" sz="900" b="1" spc="-20" dirty="0">
                <a:effectLst/>
                <a:latin typeface="Calibri"/>
                <a:ea typeface="Calibri"/>
                <a:cs typeface="Times New Roman"/>
              </a:rPr>
              <a:t> </a:t>
            </a:r>
            <a:r>
              <a:rPr lang="en-IN" sz="900" b="1" dirty="0">
                <a:effectLst/>
                <a:latin typeface="Calibri"/>
                <a:ea typeface="Calibri"/>
                <a:cs typeface="Times New Roman"/>
              </a:rPr>
              <a:t>&amp;</a:t>
            </a:r>
            <a:endParaRPr lang="en-IN" sz="1100" dirty="0">
              <a:effectLst/>
              <a:latin typeface="Calibri"/>
              <a:ea typeface="Calibri"/>
              <a:cs typeface="Times New Roman"/>
            </a:endParaRPr>
          </a:p>
          <a:p>
            <a:pPr marL="5715" marR="6350" algn="ctr">
              <a:lnSpc>
                <a:spcPct val="115000"/>
              </a:lnSpc>
              <a:spcBef>
                <a:spcPts val="5"/>
              </a:spcBef>
              <a:spcAft>
                <a:spcPts val="0"/>
              </a:spcAft>
            </a:pPr>
            <a:r>
              <a:rPr lang="en-IN" sz="900" b="1" dirty="0">
                <a:effectLst/>
                <a:latin typeface="Calibri"/>
                <a:ea typeface="Calibri"/>
                <a:cs typeface="Times New Roman"/>
              </a:rPr>
              <a:t>G.O.Ms.</a:t>
            </a:r>
            <a:r>
              <a:rPr lang="en-IN" sz="900" b="1" spc="-45" dirty="0">
                <a:effectLst/>
                <a:latin typeface="Calibri"/>
                <a:ea typeface="Calibri"/>
                <a:cs typeface="Times New Roman"/>
              </a:rPr>
              <a:t> </a:t>
            </a:r>
            <a:r>
              <a:rPr lang="en-IN" sz="900" b="1" dirty="0">
                <a:effectLst/>
                <a:latin typeface="Calibri"/>
                <a:ea typeface="Calibri"/>
                <a:cs typeface="Times New Roman"/>
              </a:rPr>
              <a:t>No.</a:t>
            </a:r>
            <a:r>
              <a:rPr lang="en-IN" sz="900" b="1" spc="-25" dirty="0">
                <a:effectLst/>
                <a:latin typeface="Calibri"/>
                <a:ea typeface="Calibri"/>
                <a:cs typeface="Times New Roman"/>
              </a:rPr>
              <a:t> </a:t>
            </a:r>
            <a:r>
              <a:rPr lang="en-IN" sz="900" b="1" dirty="0">
                <a:effectLst/>
                <a:latin typeface="Calibri"/>
                <a:ea typeface="Calibri"/>
                <a:cs typeface="Times New Roman"/>
              </a:rPr>
              <a:t>14,</a:t>
            </a:r>
            <a:r>
              <a:rPr lang="en-IN" sz="900" b="1" spc="-50" dirty="0">
                <a:effectLst/>
                <a:latin typeface="Calibri"/>
                <a:ea typeface="Calibri"/>
                <a:cs typeface="Times New Roman"/>
              </a:rPr>
              <a:t> </a:t>
            </a:r>
            <a:r>
              <a:rPr lang="en-IN" sz="900" b="1" dirty="0">
                <a:effectLst/>
                <a:latin typeface="Calibri"/>
                <a:ea typeface="Calibri"/>
                <a:cs typeface="Times New Roman"/>
              </a:rPr>
              <a:t>Higher</a:t>
            </a:r>
            <a:r>
              <a:rPr lang="en-IN" sz="900" b="1" spc="-40" dirty="0">
                <a:effectLst/>
                <a:latin typeface="Calibri"/>
                <a:ea typeface="Calibri"/>
                <a:cs typeface="Times New Roman"/>
              </a:rPr>
              <a:t> </a:t>
            </a:r>
            <a:r>
              <a:rPr lang="en-IN" sz="900" b="1" dirty="0">
                <a:effectLst/>
                <a:latin typeface="Calibri"/>
                <a:ea typeface="Calibri"/>
                <a:cs typeface="Times New Roman"/>
              </a:rPr>
              <a:t>Education</a:t>
            </a:r>
            <a:r>
              <a:rPr lang="en-IN" sz="900" b="1" spc="-10" dirty="0">
                <a:effectLst/>
                <a:latin typeface="Calibri"/>
                <a:ea typeface="Calibri"/>
                <a:cs typeface="Times New Roman"/>
              </a:rPr>
              <a:t> </a:t>
            </a:r>
            <a:r>
              <a:rPr lang="en-IN" sz="900" b="1" dirty="0">
                <a:effectLst/>
                <a:latin typeface="Calibri"/>
                <a:ea typeface="Calibri"/>
                <a:cs typeface="Times New Roman"/>
              </a:rPr>
              <a:t>(UE)</a:t>
            </a:r>
            <a:r>
              <a:rPr lang="en-IN" sz="900" b="1" spc="-45" dirty="0">
                <a:effectLst/>
                <a:latin typeface="Calibri"/>
                <a:ea typeface="Calibri"/>
                <a:cs typeface="Times New Roman"/>
              </a:rPr>
              <a:t> </a:t>
            </a:r>
            <a:r>
              <a:rPr lang="en-IN" sz="900" b="1" dirty="0">
                <a:effectLst/>
                <a:latin typeface="Calibri"/>
                <a:ea typeface="Calibri"/>
                <a:cs typeface="Times New Roman"/>
              </a:rPr>
              <a:t>Department</a:t>
            </a:r>
            <a:r>
              <a:rPr lang="en-IN" sz="950" dirty="0">
                <a:effectLst/>
                <a:latin typeface="Calibri"/>
                <a:ea typeface="Calibri"/>
                <a:cs typeface="Times New Roman"/>
              </a:rPr>
              <a:t>)</a:t>
            </a:r>
            <a:endParaRPr lang="en-IN" sz="1100" dirty="0">
              <a:effectLst/>
              <a:latin typeface="Calibri"/>
              <a:ea typeface="Calibri"/>
              <a:cs typeface="Times New Roman"/>
            </a:endParaRPr>
          </a:p>
        </p:txBody>
      </p:sp>
      <p:sp>
        <p:nvSpPr>
          <p:cNvPr id="7" name="Text Box 3"/>
          <p:cNvSpPr txBox="1">
            <a:spLocks noChangeArrowheads="1"/>
          </p:cNvSpPr>
          <p:nvPr/>
        </p:nvSpPr>
        <p:spPr bwMode="auto">
          <a:xfrm>
            <a:off x="7685158" y="906650"/>
            <a:ext cx="1440180" cy="7535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ot="0" vert="horz" wrap="square" lIns="0" tIns="0" rIns="0" bIns="0" anchor="t" anchorCtr="0" upright="1">
            <a:noAutofit/>
          </a:bodyPr>
          <a:lstStyle/>
          <a:p>
            <a:pPr marL="12700" marR="5080">
              <a:lnSpc>
                <a:spcPct val="92000"/>
              </a:lnSpc>
              <a:spcAft>
                <a:spcPts val="1000"/>
              </a:spcAft>
            </a:pPr>
            <a:r>
              <a:rPr lang="en-IN" sz="950" b="1" dirty="0" err="1">
                <a:effectLst/>
                <a:latin typeface="Calibri"/>
                <a:ea typeface="Calibri"/>
                <a:cs typeface="Times New Roman"/>
              </a:rPr>
              <a:t>Maisammaguda</a:t>
            </a:r>
            <a:r>
              <a:rPr lang="en-IN" sz="950" b="1" dirty="0">
                <a:effectLst/>
                <a:latin typeface="Calibri"/>
                <a:ea typeface="Calibri"/>
                <a:cs typeface="Times New Roman"/>
              </a:rPr>
              <a:t>, </a:t>
            </a:r>
            <a:r>
              <a:rPr lang="en-IN" sz="950" b="1" dirty="0" err="1">
                <a:effectLst/>
                <a:latin typeface="Calibri"/>
                <a:ea typeface="Calibri"/>
                <a:cs typeface="Times New Roman"/>
              </a:rPr>
              <a:t>Kompally</a:t>
            </a:r>
            <a:r>
              <a:rPr lang="en-IN" sz="950" b="1" dirty="0">
                <a:effectLst/>
                <a:latin typeface="Calibri"/>
                <a:ea typeface="Calibri"/>
                <a:cs typeface="Times New Roman"/>
              </a:rPr>
              <a:t>,</a:t>
            </a:r>
            <a:r>
              <a:rPr lang="en-IN" sz="950" b="1" spc="5" dirty="0">
                <a:effectLst/>
                <a:latin typeface="Calibri"/>
                <a:ea typeface="Calibri"/>
                <a:cs typeface="Times New Roman"/>
              </a:rPr>
              <a:t> </a:t>
            </a:r>
            <a:r>
              <a:rPr lang="en-IN" sz="950" b="1" dirty="0" err="1">
                <a:effectLst/>
                <a:latin typeface="Calibri"/>
                <a:ea typeface="Calibri"/>
                <a:cs typeface="Times New Roman"/>
              </a:rPr>
              <a:t>Medchal</a:t>
            </a:r>
            <a:r>
              <a:rPr lang="en-IN" sz="950" b="1" spc="-20" dirty="0">
                <a:effectLst/>
                <a:latin typeface="Calibri"/>
                <a:ea typeface="Calibri"/>
                <a:cs typeface="Times New Roman"/>
              </a:rPr>
              <a:t> </a:t>
            </a:r>
            <a:r>
              <a:rPr lang="en-IN" sz="950" b="1" dirty="0">
                <a:effectLst/>
                <a:latin typeface="Calibri"/>
                <a:ea typeface="Calibri"/>
                <a:cs typeface="Times New Roman"/>
              </a:rPr>
              <a:t>-</a:t>
            </a:r>
            <a:r>
              <a:rPr lang="en-IN" sz="950" b="1" spc="-5" dirty="0">
                <a:effectLst/>
                <a:latin typeface="Calibri"/>
                <a:ea typeface="Calibri"/>
                <a:cs typeface="Times New Roman"/>
              </a:rPr>
              <a:t> </a:t>
            </a:r>
            <a:r>
              <a:rPr lang="en-IN" sz="950" b="1" dirty="0" err="1">
                <a:effectLst/>
                <a:latin typeface="Calibri"/>
                <a:ea typeface="Calibri"/>
                <a:cs typeface="Times New Roman"/>
              </a:rPr>
              <a:t>Malkajgiri</a:t>
            </a:r>
            <a:r>
              <a:rPr lang="en-IN" sz="950" b="1" spc="-35" dirty="0">
                <a:effectLst/>
                <a:latin typeface="Calibri"/>
                <a:ea typeface="Calibri"/>
                <a:cs typeface="Times New Roman"/>
              </a:rPr>
              <a:t> </a:t>
            </a:r>
            <a:r>
              <a:rPr lang="en-IN" sz="950" b="1" dirty="0">
                <a:effectLst/>
                <a:latin typeface="Calibri"/>
                <a:ea typeface="Calibri"/>
                <a:cs typeface="Times New Roman"/>
              </a:rPr>
              <a:t>District</a:t>
            </a:r>
            <a:r>
              <a:rPr lang="en-IN" sz="950" b="1" spc="-200" dirty="0">
                <a:effectLst/>
                <a:latin typeface="Calibri"/>
                <a:ea typeface="Calibri"/>
                <a:cs typeface="Times New Roman"/>
              </a:rPr>
              <a:t> </a:t>
            </a:r>
            <a:r>
              <a:rPr lang="en-IN" sz="950" b="1" dirty="0">
                <a:effectLst/>
                <a:latin typeface="Calibri"/>
                <a:ea typeface="Calibri"/>
                <a:cs typeface="Times New Roman"/>
              </a:rPr>
              <a:t>Hyderabad - 500100,</a:t>
            </a:r>
            <a:r>
              <a:rPr lang="en-IN" sz="950" b="1" spc="5" dirty="0">
                <a:effectLst/>
                <a:latin typeface="Calibri"/>
                <a:ea typeface="Calibri"/>
                <a:cs typeface="Times New Roman"/>
              </a:rPr>
              <a:t> </a:t>
            </a:r>
            <a:r>
              <a:rPr lang="en-IN" sz="950" b="1" dirty="0" err="1">
                <a:effectLst/>
                <a:latin typeface="Calibri"/>
                <a:ea typeface="Calibri"/>
                <a:cs typeface="Times New Roman"/>
              </a:rPr>
              <a:t>Telangana</a:t>
            </a:r>
            <a:r>
              <a:rPr lang="en-IN" sz="950" b="1" spc="5" dirty="0">
                <a:effectLst/>
                <a:latin typeface="Calibri"/>
                <a:ea typeface="Calibri"/>
                <a:cs typeface="Times New Roman"/>
              </a:rPr>
              <a:t> </a:t>
            </a:r>
            <a:r>
              <a:rPr lang="en-IN" sz="950" b="1" dirty="0">
                <a:effectLst/>
                <a:latin typeface="Calibri"/>
                <a:ea typeface="Calibri"/>
                <a:cs typeface="Times New Roman"/>
              </a:rPr>
              <a:t>State</a:t>
            </a:r>
            <a:r>
              <a:rPr lang="en-IN" sz="950" b="1" u="none" strike="noStrike" dirty="0">
                <a:effectLst/>
                <a:latin typeface="Calibri"/>
                <a:ea typeface="Calibri"/>
                <a:cs typeface="Times New Roman"/>
                <a:hlinkClick r:id="rId3"/>
              </a:rPr>
              <a:t>.</a:t>
            </a:r>
            <a:r>
              <a:rPr lang="en-IN" sz="950" b="1" spc="5" dirty="0">
                <a:effectLst/>
                <a:latin typeface="Calibri"/>
                <a:ea typeface="Calibri"/>
                <a:cs typeface="Times New Roman"/>
              </a:rPr>
              <a:t> </a:t>
            </a:r>
            <a:r>
              <a:rPr lang="en-IN" sz="950" b="1" u="none" strike="noStrike" dirty="0">
                <a:effectLst/>
                <a:latin typeface="Calibri"/>
                <a:ea typeface="Calibri"/>
                <a:cs typeface="Times New Roman"/>
                <a:hlinkClick r:id="rId3"/>
              </a:rPr>
              <a:t>www.mallareddyuniversity.</a:t>
            </a:r>
            <a:endParaRPr lang="en-IN" sz="1100" dirty="0">
              <a:effectLst/>
              <a:latin typeface="Calibri"/>
              <a:ea typeface="Calibri"/>
              <a:cs typeface="Times New Roman"/>
            </a:endParaRPr>
          </a:p>
        </p:txBody>
      </p:sp>
      <p:sp>
        <p:nvSpPr>
          <p:cNvPr id="8" name="TextBox 7">
            <a:extLst>
              <a:ext uri="{FF2B5EF4-FFF2-40B4-BE49-F238E27FC236}">
                <a16:creationId xmlns:a16="http://schemas.microsoft.com/office/drawing/2014/main" id="{090C9F53-EED3-46E8-9963-1B608738BEB8}"/>
              </a:ext>
            </a:extLst>
          </p:cNvPr>
          <p:cNvSpPr txBox="1"/>
          <p:nvPr/>
        </p:nvSpPr>
        <p:spPr>
          <a:xfrm>
            <a:off x="741830" y="5312561"/>
            <a:ext cx="6127376" cy="646331"/>
          </a:xfrm>
          <a:prstGeom prst="rect">
            <a:avLst/>
          </a:prstGeom>
          <a:noFill/>
        </p:spPr>
        <p:txBody>
          <a:bodyPr wrap="square">
            <a:spAutoFit/>
          </a:bodyPr>
          <a:lstStyle/>
          <a:p>
            <a:r>
              <a:rPr lang="en-IN" sz="1800" b="1" cap="none"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t> </a:t>
            </a:r>
            <a:r>
              <a:rPr lang="en-IN" sz="1800" b="1" cap="none"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Guide </a:t>
            </a:r>
            <a:br>
              <a:rPr lang="en-IN" sz="1800" b="1" cap="none"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br>
            <a:r>
              <a:rPr lang="en-IN" sz="1800" b="1" cap="none"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n-IN" b="1" dirty="0" err="1">
                <a:latin typeface="Times New Roman" panose="02020603050405020304" pitchFamily="18" charset="0"/>
                <a:ea typeface="Times New Roman" panose="02020603050405020304" pitchFamily="18" charset="0"/>
                <a:cs typeface="Times New Roman" panose="02020603050405020304" pitchFamily="18" charset="0"/>
              </a:rPr>
              <a:t>Mrs.G.Devi</a:t>
            </a:r>
            <a:r>
              <a:rPr lang="en-IN" b="1" dirty="0">
                <a:latin typeface="Times New Roman" panose="02020603050405020304" pitchFamily="18" charset="0"/>
                <a:ea typeface="Times New Roman" panose="02020603050405020304" pitchFamily="18" charset="0"/>
                <a:cs typeface="Times New Roman" panose="02020603050405020304" pitchFamily="18" charset="0"/>
              </a:rPr>
              <a:t> Priya</a:t>
            </a:r>
            <a:endParaRPr lang="en-IN" dirty="0"/>
          </a:p>
        </p:txBody>
      </p:sp>
    </p:spTree>
    <p:extLst>
      <p:ext uri="{BB962C8B-B14F-4D97-AF65-F5344CB8AC3E}">
        <p14:creationId xmlns:p14="http://schemas.microsoft.com/office/powerpoint/2010/main" val="33648380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Table of Contents</a:t>
            </a:r>
            <a:endParaRPr lang="en-IN" dirty="0"/>
          </a:p>
        </p:txBody>
      </p:sp>
      <p:sp>
        <p:nvSpPr>
          <p:cNvPr id="3" name="TextBox 2"/>
          <p:cNvSpPr txBox="1"/>
          <p:nvPr/>
        </p:nvSpPr>
        <p:spPr>
          <a:xfrm>
            <a:off x="2177934" y="1524000"/>
            <a:ext cx="9404465" cy="3693319"/>
          </a:xfrm>
          <a:prstGeom prst="rect">
            <a:avLst/>
          </a:prstGeom>
          <a:noFill/>
        </p:spPr>
        <p:txBody>
          <a:bodyPr wrap="square" rtlCol="0">
            <a:spAutoFit/>
          </a:bodyPr>
          <a:lstStyle/>
          <a:p>
            <a:pPr marL="285750" indent="-285750">
              <a:lnSpc>
                <a:spcPct val="200000"/>
              </a:lnSpc>
              <a:buClr>
                <a:schemeClr val="tx2"/>
              </a:buClr>
              <a:buFont typeface="Wingdings" panose="05000000000000000000" pitchFamily="2" charset="2"/>
              <a:buChar char="Ø"/>
            </a:pPr>
            <a:r>
              <a:rPr lang="en-IN" dirty="0" sz="1600"/>
              <a:t>Introduction</a:t>
            </a:r>
          </a:p>
          <a:p>
            <a:pPr marL="285750" indent="-285750">
              <a:lnSpc>
                <a:spcPct val="200000"/>
              </a:lnSpc>
              <a:buClr>
                <a:schemeClr val="tx2"/>
              </a:buClr>
              <a:buFont typeface="Wingdings" panose="05000000000000000000" pitchFamily="2" charset="2"/>
              <a:buChar char="Ø"/>
            </a:pPr>
            <a:r>
              <a:rPr lang="en-IN" dirty="0" sz="1600"/>
              <a:t>Literature Survey</a:t>
            </a:r>
          </a:p>
          <a:p>
            <a:pPr marL="285750" indent="-285750">
              <a:lnSpc>
                <a:spcPct val="200000"/>
              </a:lnSpc>
              <a:buClr>
                <a:schemeClr val="tx2"/>
              </a:buClr>
              <a:buFont typeface="Wingdings" panose="05000000000000000000" pitchFamily="2" charset="2"/>
              <a:buChar char="Ø"/>
            </a:pPr>
            <a:r>
              <a:rPr lang="en-IN" dirty="0" sz="1600"/>
              <a:t>Limitations of Existing Algorithms/Methodologies</a:t>
            </a:r>
          </a:p>
          <a:p>
            <a:pPr marL="285750" indent="-285750">
              <a:lnSpc>
                <a:spcPct val="200000"/>
              </a:lnSpc>
              <a:buClr>
                <a:schemeClr val="tx2"/>
              </a:buClr>
              <a:buFont typeface="Wingdings" panose="05000000000000000000" pitchFamily="2" charset="2"/>
              <a:buChar char="Ø"/>
            </a:pPr>
            <a:r>
              <a:rPr lang="en-IN" dirty="0" sz="1600"/>
              <a:t>Abstract</a:t>
            </a:r>
          </a:p>
          <a:p>
            <a:pPr marL="285750" indent="-285750">
              <a:lnSpc>
                <a:spcPct val="200000"/>
              </a:lnSpc>
              <a:buClr>
                <a:schemeClr val="tx2"/>
              </a:buClr>
              <a:buFont typeface="Wingdings" panose="05000000000000000000" pitchFamily="2" charset="2"/>
              <a:buChar char="Ø"/>
            </a:pPr>
            <a:r>
              <a:rPr lang="en-IN" dirty="0" sz="1600"/>
              <a:t>Proposed System and Methodology</a:t>
            </a:r>
          </a:p>
          <a:p>
            <a:pPr marL="285750" indent="-285750">
              <a:lnSpc>
                <a:spcPct val="200000"/>
              </a:lnSpc>
              <a:buClr>
                <a:schemeClr val="tx2"/>
              </a:buClr>
              <a:buFont typeface="Wingdings" panose="05000000000000000000" pitchFamily="2" charset="2"/>
              <a:buChar char="Ø"/>
            </a:pPr>
            <a:r>
              <a:rPr lang="en-IN" dirty="0" sz="1600"/>
              <a:t>Hardware/Software Requirements</a:t>
            </a:r>
          </a:p>
          <a:p>
            <a:pPr marL="285750" indent="-285750">
              <a:lnSpc>
                <a:spcPct val="200000"/>
              </a:lnSpc>
              <a:buClr>
                <a:schemeClr val="tx2"/>
              </a:buClr>
              <a:buFont typeface="Wingdings" panose="05000000000000000000" pitchFamily="2" charset="2"/>
              <a:buChar char="Ø"/>
            </a:pPr>
            <a:r>
              <a:rPr lang="en-IN" dirty="0" sz="1600"/>
              <a:t>Results on the Test Receipts</a:t>
            </a:r>
          </a:p>
          <a:p>
            <a:pPr marL="285750" indent="-285750">
              <a:lnSpc>
                <a:spcPct val="200000"/>
              </a:lnSpc>
              <a:buClr>
                <a:schemeClr val="tx2"/>
              </a:buClr>
              <a:buFont typeface="Wingdings" panose="05000000000000000000" pitchFamily="2" charset="2"/>
              <a:buChar char="Ø"/>
            </a:pPr>
            <a:r>
              <a:rPr lang="en-IN" dirty="0" sz="1600"/>
              <a:t>Why the Earlier 97.85% Was Misleading</a:t>
            </a:r>
          </a:p>
          <a:p>
            <a:pPr marL="285750" indent="-285750">
              <a:lnSpc>
                <a:spcPct val="200000"/>
              </a:lnSpc>
              <a:buClr>
                <a:schemeClr val="tx2"/>
              </a:buClr>
              <a:buFont typeface="Wingdings" panose="05000000000000000000" pitchFamily="2" charset="2"/>
              <a:buChar char="Ø"/>
            </a:pPr>
            <a:r>
              <a:rPr lang="en-IN" dirty="0" sz="1600"/>
              <a:t>Screenshots of the Application</a:t>
            </a:r>
          </a:p>
          <a:p>
            <a:pPr marL="285750" indent="-285750">
              <a:lnSpc>
                <a:spcPct val="200000"/>
              </a:lnSpc>
              <a:buClr>
                <a:schemeClr val="tx2"/>
              </a:buClr>
              <a:buFont typeface="Wingdings" panose="05000000000000000000" pitchFamily="2" charset="2"/>
              <a:buChar char="Ø"/>
            </a:pPr>
            <a:r>
              <a:rPr lang="en-IN" dirty="0" sz="1600"/>
              <a:t>Conclusion and Future Scope</a:t>
            </a:r>
          </a:p>
        </p:txBody>
      </p:sp>
    </p:spTree>
    <p:extLst>
      <p:ext uri="{BB962C8B-B14F-4D97-AF65-F5344CB8AC3E}">
        <p14:creationId xmlns:p14="http://schemas.microsoft.com/office/powerpoint/2010/main" val="35998806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53C02C5-5CF2-0687-A2A6-2DC363841C1F}"/>
              </a:ext>
            </a:extLst>
          </p:cNvPr>
          <p:cNvSpPr txBox="1"/>
          <p:nvPr/>
        </p:nvSpPr>
        <p:spPr>
          <a:xfrm>
            <a:off x="419876" y="761247"/>
            <a:ext cx="11411339" cy="5227393"/>
          </a:xfrm>
          <a:prstGeom prst="rect">
            <a:avLst/>
          </a:prstGeom>
          <a:noFill/>
        </p:spPr>
        <p:txBody>
          <a:bodyPr wrap="square">
            <a:spAutoFit/>
          </a:bodyPr>
          <a:lstStyle/>
          <a:p>
            <a:pPr>
              <a:buNone/>
            </a:pPr>
            <a:r>
              <a:rPr lang="en-IN" sz="3200" b="1" dirty="0">
                <a:solidFill>
                  <a:schemeClr val="tx2"/>
                </a:solidFill>
                <a:latin typeface="Times New Roman" panose="02020603050405020304" pitchFamily="18" charset="0"/>
                <a:cs typeface="Times New Roman" panose="02020603050405020304" pitchFamily="18" charset="0"/>
              </a:rPr>
              <a:t>Introduction: </a:t>
            </a:r>
          </a:p>
          <a:p>
            <a:pPr>
              <a:buNone/>
            </a:pPr>
            <a:endParaRPr lang="en-IN" sz="1400" b="1" dirty="0"/>
          </a:p>
          <a:p>
            <a:pPr algn="just">
              <a:lnSpc>
                <a:spcPct val="150000"/>
              </a:lnSpc>
              <a:buNone/>
            </a:pPr>
            <a:r>
              <a:rPr lang="en-IN" sz="2400" dirty="0">
                <a:latin typeface="Times New Roman" panose="02020603050405020304" pitchFamily="18" charset="0"/>
                <a:cs typeface="Times New Roman" panose="02020603050405020304" pitchFamily="18" charset="0"/>
              </a:rPr>
              <a:t>Financial document fraud has become increasingly common with the widespread use of digital editing tools. Documents such as invoices, receipts, bank statements, and bills can be manipulated to alter financial information, resulting in significant losses for organizations. Traditional manual verification methods are time-consuming and prone to human error. This project proposes an Explainable AI-based system that automatically detects whether a financial document is genuine or tampered. The system uses EfficientNetV2B0 for document classification and Grad-CAM to highlight suspicious regions, making the prediction transparent and easy to understand.</a:t>
            </a:r>
          </a:p>
        </p:txBody>
      </p:sp>
    </p:spTree>
    <p:extLst>
      <p:ext uri="{BB962C8B-B14F-4D97-AF65-F5344CB8AC3E}">
        <p14:creationId xmlns:p14="http://schemas.microsoft.com/office/powerpoint/2010/main" val="13532007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38970A0-87A2-6EE5-03BA-544F7A45EBEB}"/>
              </a:ext>
            </a:extLst>
          </p:cNvPr>
          <p:cNvSpPr txBox="1"/>
          <p:nvPr/>
        </p:nvSpPr>
        <p:spPr>
          <a:xfrm>
            <a:off x="373225" y="675811"/>
            <a:ext cx="11262049" cy="4611840"/>
          </a:xfrm>
          <a:prstGeom prst="rect">
            <a:avLst/>
          </a:prstGeom>
          <a:noFill/>
        </p:spPr>
        <p:txBody>
          <a:bodyPr wrap="square">
            <a:spAutoFit/>
          </a:bodyPr>
          <a:lstStyle/>
          <a:p>
            <a:pPr algn="just">
              <a:buNone/>
            </a:pPr>
            <a:r>
              <a:rPr lang="en-IN" sz="3200" b="1" dirty="0">
                <a:solidFill>
                  <a:schemeClr val="tx2"/>
                </a:solidFill>
                <a:latin typeface="Times New Roman" panose="02020603050405020304" pitchFamily="18" charset="0"/>
                <a:cs typeface="Times New Roman" panose="02020603050405020304" pitchFamily="18" charset="0"/>
              </a:rPr>
              <a:t>Literature Survey:</a:t>
            </a:r>
          </a:p>
          <a:p>
            <a:pPr algn="just">
              <a:buNone/>
            </a:pPr>
            <a:endParaRPr lang="en-IN" sz="1400" b="1" dirty="0"/>
          </a:p>
          <a:p>
            <a:pPr algn="just">
              <a:lnSpc>
                <a:spcPct val="150000"/>
              </a:lnSpc>
              <a:buNone/>
            </a:pPr>
            <a:r>
              <a:rPr lang="en-IN" sz="2400" dirty="0">
                <a:latin typeface="Times New Roman" panose="02020603050405020304" pitchFamily="18" charset="0"/>
                <a:cs typeface="Times New Roman" panose="02020603050405020304" pitchFamily="18" charset="0"/>
              </a:rPr>
              <a:t>Several researchers have applied deep learning techniques to document forgery detection using Convolutional Neural Networks (CNNs), </a:t>
            </a:r>
            <a:r>
              <a:rPr lang="en-IN" sz="2400" dirty="0" err="1">
                <a:latin typeface="Times New Roman" panose="02020603050405020304" pitchFamily="18" charset="0"/>
                <a:cs typeface="Times New Roman" panose="02020603050405020304" pitchFamily="18" charset="0"/>
              </a:rPr>
              <a:t>EfficientNet</a:t>
            </a:r>
            <a:r>
              <a:rPr lang="en-IN" sz="2400" dirty="0">
                <a:latin typeface="Times New Roman" panose="02020603050405020304" pitchFamily="18" charset="0"/>
                <a:cs typeface="Times New Roman" panose="02020603050405020304" pitchFamily="18" charset="0"/>
              </a:rPr>
              <a:t>, and Vision Transformers. These methods have shown improved accuracy compared to traditional image processing approaches. Explainable AI techniques such as Grad-CAM have also been introduced to visualize the regions responsible for model predictions. However, many existing systems focus on document classification without providing clear visual explanations, making their decisions difficult to interpret.</a:t>
            </a:r>
          </a:p>
        </p:txBody>
      </p:sp>
    </p:spTree>
    <p:extLst>
      <p:ext uri="{BB962C8B-B14F-4D97-AF65-F5344CB8AC3E}">
        <p14:creationId xmlns:p14="http://schemas.microsoft.com/office/powerpoint/2010/main" val="9115657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937DA72-508F-81BB-D41B-986BF38E6E0C}"/>
              </a:ext>
            </a:extLst>
          </p:cNvPr>
          <p:cNvSpPr txBox="1"/>
          <p:nvPr/>
        </p:nvSpPr>
        <p:spPr>
          <a:xfrm>
            <a:off x="363894" y="711675"/>
            <a:ext cx="11271379" cy="3503844"/>
          </a:xfrm>
          <a:prstGeom prst="rect">
            <a:avLst/>
          </a:prstGeom>
          <a:noFill/>
        </p:spPr>
        <p:txBody>
          <a:bodyPr wrap="square">
            <a:spAutoFit/>
          </a:bodyPr>
          <a:lstStyle/>
          <a:p>
            <a:pPr>
              <a:buNone/>
            </a:pPr>
            <a:r>
              <a:rPr lang="en-IN" sz="3200" b="1" dirty="0">
                <a:solidFill>
                  <a:schemeClr val="tx2"/>
                </a:solidFill>
                <a:latin typeface="Times New Roman" panose="02020603050405020304" pitchFamily="18" charset="0"/>
                <a:cs typeface="Times New Roman" panose="02020603050405020304" pitchFamily="18" charset="0"/>
              </a:rPr>
              <a:t>Limitations of Existing Algorithms/Methodologies:</a:t>
            </a:r>
          </a:p>
          <a:p>
            <a:pPr>
              <a:buNone/>
            </a:pPr>
            <a:endParaRPr lang="en-IN" sz="1400" b="1" dirty="0">
              <a:solidFill>
                <a:srgbClr val="FF0000"/>
              </a:solidFill>
            </a:endParaRPr>
          </a:p>
          <a:p>
            <a:pPr marL="342900" lvl="0" indent="-342900">
              <a:lnSpc>
                <a:spcPct val="150000"/>
              </a:lnSpc>
              <a:buFont typeface="Arial" panose="020B0604020202020204" pitchFamily="34" charset="0"/>
              <a:buChar char="•"/>
            </a:pPr>
            <a:r>
              <a:rPr lang="en-IN" sz="2400" dirty="0">
                <a:latin typeface="Times New Roman" panose="02020603050405020304" pitchFamily="18" charset="0"/>
                <a:cs typeface="Times New Roman" panose="02020603050405020304" pitchFamily="18" charset="0"/>
              </a:rPr>
              <a:t>Manual verification is slow and depends on human expertise. </a:t>
            </a:r>
          </a:p>
          <a:p>
            <a:pPr marL="342900" lvl="0" indent="-342900">
              <a:lnSpc>
                <a:spcPct val="150000"/>
              </a:lnSpc>
              <a:buFont typeface="Arial" panose="020B0604020202020204" pitchFamily="34" charset="0"/>
              <a:buChar char="•"/>
            </a:pPr>
            <a:r>
              <a:rPr lang="en-IN" sz="2400" dirty="0">
                <a:latin typeface="Times New Roman" panose="02020603050405020304" pitchFamily="18" charset="0"/>
                <a:cs typeface="Times New Roman" panose="02020603050405020304" pitchFamily="18" charset="0"/>
              </a:rPr>
              <a:t>Traditional image processing techniques cannot detect complex digital manipulations. </a:t>
            </a:r>
          </a:p>
          <a:p>
            <a:pPr marL="342900" lvl="0" indent="-342900">
              <a:lnSpc>
                <a:spcPct val="150000"/>
              </a:lnSpc>
              <a:buFont typeface="Arial" panose="020B0604020202020204" pitchFamily="34" charset="0"/>
              <a:buChar char="•"/>
            </a:pPr>
            <a:r>
              <a:rPr lang="en-IN" sz="2400" dirty="0">
                <a:latin typeface="Times New Roman" panose="02020603050405020304" pitchFamily="18" charset="0"/>
                <a:cs typeface="Times New Roman" panose="02020603050405020304" pitchFamily="18" charset="0"/>
              </a:rPr>
              <a:t>Many deep learning models act as black boxes and do not explain their predictions. </a:t>
            </a:r>
          </a:p>
          <a:p>
            <a:pPr marL="342900" lvl="0" indent="-342900">
              <a:lnSpc>
                <a:spcPct val="150000"/>
              </a:lnSpc>
              <a:buFont typeface="Arial" panose="020B0604020202020204" pitchFamily="34" charset="0"/>
              <a:buChar char="•"/>
            </a:pPr>
            <a:r>
              <a:rPr lang="en-IN" sz="2400" dirty="0">
                <a:latin typeface="Times New Roman" panose="02020603050405020304" pitchFamily="18" charset="0"/>
                <a:cs typeface="Times New Roman" panose="02020603050405020304" pitchFamily="18" charset="0"/>
              </a:rPr>
              <a:t>Existing systems often fail to generalize across different types of financial documents. </a:t>
            </a:r>
          </a:p>
          <a:p>
            <a:pPr marL="342900" lvl="0" indent="-342900">
              <a:lnSpc>
                <a:spcPct val="150000"/>
              </a:lnSpc>
              <a:buFont typeface="Arial" panose="020B0604020202020204" pitchFamily="34" charset="0"/>
              <a:buChar char="•"/>
            </a:pPr>
            <a:r>
              <a:rPr lang="en-IN" sz="2400" dirty="0">
                <a:latin typeface="Times New Roman" panose="02020603050405020304" pitchFamily="18" charset="0"/>
                <a:cs typeface="Times New Roman" panose="02020603050405020304" pitchFamily="18" charset="0"/>
              </a:rPr>
              <a:t>Several methods require expensive computational resources or specialized datasets. </a:t>
            </a:r>
          </a:p>
        </p:txBody>
      </p:sp>
    </p:spTree>
    <p:extLst>
      <p:ext uri="{BB962C8B-B14F-4D97-AF65-F5344CB8AC3E}">
        <p14:creationId xmlns:p14="http://schemas.microsoft.com/office/powerpoint/2010/main" val="30234345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25AA603-4C79-20F1-FFED-B8478D6D57DE}"/>
              </a:ext>
            </a:extLst>
          </p:cNvPr>
          <p:cNvSpPr txBox="1"/>
          <p:nvPr/>
        </p:nvSpPr>
        <p:spPr>
          <a:xfrm>
            <a:off x="401215" y="559781"/>
            <a:ext cx="11579290" cy="5817362"/>
          </a:xfrm>
          <a:prstGeom prst="rect">
            <a:avLst/>
          </a:prstGeom>
          <a:noFill/>
        </p:spPr>
        <p:txBody>
          <a:bodyPr wrap="square">
            <a:spAutoFit/>
          </a:bodyPr>
          <a:lstStyle/>
          <a:p>
            <a:pPr>
              <a:buNone/>
            </a:pPr>
            <a:r>
              <a:rPr lang="en-IN" sz="3200" b="1" dirty="0">
                <a:solidFill>
                  <a:schemeClr val="tx2"/>
                </a:solidFill>
                <a:latin typeface="Times New Roman" panose="02020603050405020304" pitchFamily="18" charset="0"/>
                <a:cs typeface="Times New Roman" panose="02020603050405020304" pitchFamily="18" charset="0"/>
              </a:rPr>
              <a:t>Abstract:</a:t>
            </a:r>
          </a:p>
          <a:p>
            <a:pPr>
              <a:buNone/>
            </a:pPr>
            <a:endParaRPr lang="en-IN" sz="1000" dirty="0"/>
          </a:p>
          <a:p>
            <a:pPr algn="just">
              <a:lnSpc>
                <a:spcPct val="140000"/>
              </a:lnSpc>
              <a:buNone/>
            </a:pPr>
            <a:r>
              <a:rPr lang="en-IN" sz="1700" dirty="0">
                <a:latin typeface="Times New Roman" panose="02020603050405020304" pitchFamily="18" charset="0"/>
                <a:cs typeface="Times New Roman" panose="02020603050405020304" pitchFamily="18" charset="0"/>
              </a:rPr>
              <a:t>Financial document tampering is a serious problem for banks, insurance companies and businesses. This project presents FinDoc AI, an explainable tampering detection system based on EfficientNetV2B0 and Grad-CAM, trained on the public “Find it again!” dataset of 988 scanned receipts. The model is fine-tuned on 224 × 224 windows cut at the receipts’ original resolution, and whole documents are scanned with overlapping windows; Grad-CAM heatmaps and a plain-language list of reasons explain every decision. The Flask web application accepts images, camera photos, PDF, Word and PowerPoint files, and checks the metadata of digital files. An earlier model that reported 97.85% patch accuracy was found to perform at chance level on whole receipts; the final system reaches 43.58% accuracy and a document-level AUC of 47.04% on 218 test receipts, so it is best used as an explainable screening aid.</a:t>
            </a:r>
          </a:p>
        </p:txBody>
      </p:sp>
    </p:spTree>
    <p:extLst>
      <p:ext uri="{BB962C8B-B14F-4D97-AF65-F5344CB8AC3E}">
        <p14:creationId xmlns:p14="http://schemas.microsoft.com/office/powerpoint/2010/main" val="12869046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180C54B-98DE-C36E-DB94-130418C9C262}"/>
              </a:ext>
            </a:extLst>
          </p:cNvPr>
          <p:cNvSpPr txBox="1"/>
          <p:nvPr/>
        </p:nvSpPr>
        <p:spPr>
          <a:xfrm>
            <a:off x="307910" y="705177"/>
            <a:ext cx="11200000" cy="5201424"/>
          </a:xfrm>
          <a:prstGeom prst="rect">
            <a:avLst/>
          </a:prstGeom>
          <a:noFill/>
        </p:spPr>
        <p:txBody>
          <a:bodyPr wrap="square">
            <a:spAutoFit/>
          </a:bodyPr>
          <a:lstStyle/>
          <a:p>
            <a:pPr>
              <a:buNone/>
            </a:pPr>
            <a:r>
              <a:rPr lang="en-IN" sz="3200" b="1" dirty="0">
                <a:solidFill>
                  <a:schemeClr val="tx2"/>
                </a:solidFill>
                <a:latin typeface="Times New Roman" panose="02020603050405020304" pitchFamily="18" charset="0"/>
                <a:cs typeface="Times New Roman" panose="02020603050405020304" pitchFamily="18" charset="0"/>
              </a:rPr>
              <a:t>Hardware Requirements:</a:t>
            </a:r>
          </a:p>
          <a:p>
            <a:pPr>
              <a:buNone/>
            </a:pPr>
            <a:endParaRPr lang="en-IN" sz="800" dirty="0"/>
          </a:p>
          <a:p>
            <a:pPr marL="342900" lvl="0" indent="-342900">
              <a:lnSpc>
                <a:spcPct val="110000"/>
              </a:lnSpc>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Processor: Intel Core i5 or above</a:t>
            </a:r>
          </a:p>
          <a:p>
            <a:pPr marL="342900" lvl="0" indent="-342900">
              <a:lnSpc>
                <a:spcPct val="110000"/>
              </a:lnSpc>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RAM: 8 GB (16 GB for training)</a:t>
            </a:r>
          </a:p>
          <a:p>
            <a:pPr marL="342900" lvl="0" indent="-342900">
              <a:lnSpc>
                <a:spcPct val="110000"/>
              </a:lnSpc>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Storage: 10 GB free space</a:t>
            </a:r>
          </a:p>
          <a:p>
            <a:pPr marL="342900" lvl="0" indent="-342900">
              <a:lnSpc>
                <a:spcPct val="110000"/>
              </a:lnSpc>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Camera (optional, for capturing documents)</a:t>
            </a:r>
          </a:p>
          <a:p>
            <a:pPr>
              <a:buNone/>
            </a:pPr>
            <a:endParaRPr lang="en-IN" sz="800" dirty="0"/>
          </a:p>
          <a:p>
            <a:pPr>
              <a:buNone/>
            </a:pPr>
            <a:r>
              <a:rPr lang="en-IN" sz="3200" b="1" dirty="0">
                <a:solidFill>
                  <a:schemeClr val="tx2"/>
                </a:solidFill>
                <a:latin typeface="Times New Roman" panose="02020603050405020304" pitchFamily="18" charset="0"/>
                <a:cs typeface="Times New Roman" panose="02020603050405020304" pitchFamily="18" charset="0"/>
              </a:rPr>
              <a:t>Software Requirements:</a:t>
            </a:r>
          </a:p>
          <a:p>
            <a:pPr>
              <a:buNone/>
            </a:pPr>
            <a:endParaRPr lang="en-IN" sz="800" dirty="0"/>
          </a:p>
          <a:p>
            <a:pPr marL="342900" lvl="0" indent="-342900">
              <a:lnSpc>
                <a:spcPct val="110000"/>
              </a:lnSpc>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Windows 10/11, Python 3.10+ (tested with 3.13)</a:t>
            </a:r>
          </a:p>
          <a:p>
            <a:pPr marL="342900" lvl="0" indent="-342900">
              <a:lnSpc>
                <a:spcPct val="110000"/>
              </a:lnSpc>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TensorFlow 2.20 with Keras 3.12 (EfficientNetV2B0)</a:t>
            </a:r>
          </a:p>
          <a:p>
            <a:pPr marL="342900" lvl="0" indent="-342900">
              <a:lnSpc>
                <a:spcPct val="110000"/>
              </a:lnSpc>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Flask 3.1, HTML, CSS, JavaScript</a:t>
            </a:r>
          </a:p>
          <a:p>
            <a:pPr marL="342900" lvl="0" indent="-342900">
              <a:lnSpc>
                <a:spcPct val="110000"/>
              </a:lnSpc>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Pillow, NumPy, PyMuPDF, scikit-learn, matplotlib</a:t>
            </a:r>
          </a:p>
          <a:p>
            <a:pPr marL="342900" lvl="0" indent="-342900">
              <a:lnSpc>
                <a:spcPct val="110000"/>
              </a:lnSpc>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Microsoft Word / PowerPoint (for DOC, DOCX, PPT, PPTX files)</a:t>
            </a:r>
          </a:p>
        </p:txBody>
      </p:sp>
    </p:spTree>
    <p:extLst>
      <p:ext uri="{BB962C8B-B14F-4D97-AF65-F5344CB8AC3E}">
        <p14:creationId xmlns:p14="http://schemas.microsoft.com/office/powerpoint/2010/main" val="27831384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4DDDB15-BA61-7721-B314-2893531D2498}"/>
              </a:ext>
            </a:extLst>
          </p:cNvPr>
          <p:cNvSpPr txBox="1"/>
          <p:nvPr/>
        </p:nvSpPr>
        <p:spPr>
          <a:xfrm>
            <a:off x="345232" y="406684"/>
            <a:ext cx="11364686" cy="5196615"/>
          </a:xfrm>
          <a:prstGeom prst="rect">
            <a:avLst/>
          </a:prstGeom>
          <a:noFill/>
        </p:spPr>
        <p:txBody>
          <a:bodyPr wrap="square">
            <a:spAutoFit/>
          </a:bodyPr>
          <a:lstStyle/>
          <a:p>
            <a:pPr>
              <a:buNone/>
            </a:pPr>
            <a:r>
              <a:rPr lang="en-IN" sz="3200" b="1" dirty="0">
                <a:solidFill>
                  <a:schemeClr val="tx2"/>
                </a:solidFill>
                <a:latin typeface="Times New Roman" panose="02020603050405020304" pitchFamily="18" charset="0"/>
                <a:cs typeface="Times New Roman" panose="02020603050405020304" pitchFamily="18" charset="0"/>
              </a:rPr>
              <a:t>Conclusion and Future Scope:</a:t>
            </a:r>
          </a:p>
          <a:p>
            <a:pPr>
              <a:buNone/>
            </a:pPr>
            <a:endParaRPr lang="en-IN" sz="800" dirty="0"/>
          </a:p>
          <a:p>
            <a:pPr algn="just">
              <a:lnSpc>
                <a:spcPct val="130000"/>
              </a:lnSpc>
              <a:buNone/>
            </a:pPr>
            <a:r>
              <a:rPr lang="en-IN" sz="1800" dirty="0">
                <a:latin typeface="Times New Roman" panose="02020603050405020304" pitchFamily="18" charset="0"/>
                <a:cs typeface="Times New Roman" panose="02020603050405020304" pitchFamily="18" charset="0"/>
              </a:rPr>
              <a:t>FinDoc AI provides a complete, explainable pipeline: any image, PDF, Word or PowerPoint file can be uploaded, scanned documents are analysed window by window with EfficientNetV2B0, and every result is explained with Grad-CAM, flagged regions and reasons. A careful document-level evaluation showed that detecting careful manual edits in scanned receipts is still hard: the honest test AUC is 47.04%, so the system should be used as a screening aid, not as proof.</a:t>
            </a:r>
          </a:p>
          <a:p>
            <a:pPr>
              <a:buNone/>
            </a:pPr>
            <a:endParaRPr lang="en-IN" sz="600" dirty="0"/>
          </a:p>
          <a:p>
            <a:pPr marL="342900" lvl="0" indent="-342900">
              <a:lnSpc>
                <a:spcPct val="120000"/>
              </a:lnSpc>
              <a:buFont typeface="Arial" panose="020B0604020202020204" pitchFamily="34" charset="0"/>
              <a:buChar char="•"/>
            </a:pPr>
            <a:r>
              <a:rPr lang="en-IN" sz="1800" b="1" dirty="0">
                <a:latin typeface="Times New Roman" panose="02020603050405020304" pitchFamily="18" charset="0"/>
                <a:cs typeface="Times New Roman" panose="02020603050405020304" pitchFamily="18" charset="0"/>
              </a:rPr>
              <a:t>Data: </a:t>
            </a:r>
            <a:r>
              <a:rPr lang="en-IN" sz="1800" dirty="0">
                <a:latin typeface="Times New Roman" panose="02020603050405020304" pitchFamily="18" charset="0"/>
                <a:cs typeface="Times New Roman" panose="02020603050405020304" pitchFamily="18" charset="0"/>
              </a:rPr>
              <a:t>More tampered training data, e.g. automatically generated forgeries</a:t>
            </a:r>
          </a:p>
          <a:p>
            <a:pPr marL="342900" lvl="0" indent="-342900">
              <a:lnSpc>
                <a:spcPct val="120000"/>
              </a:lnSpc>
              <a:buFont typeface="Arial" panose="020B0604020202020204" pitchFamily="34" charset="0"/>
              <a:buChar char="•"/>
            </a:pPr>
            <a:r>
              <a:rPr lang="en-IN" sz="1800" b="1" dirty="0">
                <a:latin typeface="Times New Roman" panose="02020603050405020304" pitchFamily="18" charset="0"/>
                <a:cs typeface="Times New Roman" panose="02020603050405020304" pitchFamily="18" charset="0"/>
              </a:rPr>
              <a:t>Text checks: </a:t>
            </a:r>
            <a:r>
              <a:rPr lang="en-IN" sz="1800" dirty="0">
                <a:latin typeface="Times New Roman" panose="02020603050405020304" pitchFamily="18" charset="0"/>
                <a:cs typeface="Times New Roman" panose="02020603050405020304" pitchFamily="18" charset="0"/>
              </a:rPr>
              <a:t>OCR-based checks that item prices, totals and tax add up</a:t>
            </a:r>
          </a:p>
          <a:p>
            <a:pPr marL="342900" lvl="0" indent="-342900">
              <a:lnSpc>
                <a:spcPct val="120000"/>
              </a:lnSpc>
              <a:buFont typeface="Arial" panose="020B0604020202020204" pitchFamily="34" charset="0"/>
              <a:buChar char="•"/>
            </a:pPr>
            <a:r>
              <a:rPr lang="en-IN" sz="1800" b="1" dirty="0">
                <a:latin typeface="Times New Roman" panose="02020603050405020304" pitchFamily="18" charset="0"/>
                <a:cs typeface="Times New Roman" panose="02020603050405020304" pitchFamily="18" charset="0"/>
              </a:rPr>
              <a:t>Models: </a:t>
            </a:r>
            <a:r>
              <a:rPr lang="en-IN" sz="1800" dirty="0">
                <a:latin typeface="Times New Roman" panose="02020603050405020304" pitchFamily="18" charset="0"/>
                <a:cs typeface="Times New Roman" panose="02020603050405020304" pitchFamily="18" charset="0"/>
              </a:rPr>
              <a:t>Forensic networks trained with pixel-level masks</a:t>
            </a:r>
          </a:p>
        </p:txBody>
      </p:sp>
    </p:spTree>
    <p:extLst>
      <p:ext uri="{BB962C8B-B14F-4D97-AF65-F5344CB8AC3E}">
        <p14:creationId xmlns:p14="http://schemas.microsoft.com/office/powerpoint/2010/main" val="8727918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6593E-9CCE-4C44-9E3C-FD98DFA0D334}"/>
              </a:ext>
            </a:extLst>
          </p:cNvPr>
          <p:cNvSpPr>
            <a:spLocks noGrp="1"/>
          </p:cNvSpPr>
          <p:nvPr>
            <p:ph type="title"/>
          </p:nvPr>
        </p:nvSpPr>
        <p:spPr>
          <a:xfrm>
            <a:off x="684212" y="275208"/>
            <a:ext cx="11140844" cy="6098959"/>
          </a:xfrm>
        </p:spPr>
        <p:txBody>
          <a:bodyPr>
            <a:normAutofit/>
          </a:bodyPr>
          <a:lstStyle/>
          <a:p>
            <a:pPr algn="ctr"/>
            <a:r>
              <a:rPr lang="en-US" sz="2800" b="1" dirty="0">
                <a:solidFill>
                  <a:schemeClr val="tx1"/>
                </a:solidFill>
                <a:latin typeface="Calibri" panose="020F0502020204030204" pitchFamily="34" charset="0"/>
                <a:cs typeface="Calibri" panose="020F0502020204030204" pitchFamily="34" charset="0"/>
              </a:rPr>
              <a:t>THANK YOU</a:t>
            </a:r>
            <a:endParaRPr lang="en-IN" sz="2800" b="1" dirty="0">
              <a:solidFill>
                <a:schemeClr val="tx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662912103"/>
      </p:ext>
    </p:extLst>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E53C02C5-5CF2-0687-A2A6-2DC363841C1F}"/>
              </a:ext>
            </a:extLst>
          </p:cNvPr>
          <p:cNvSpPr txBox="1"/>
          <p:nvPr/>
        </p:nvSpPr>
        <p:spPr>
          <a:xfrm>
            <a:off x="419876" y="700000"/>
            <a:ext cx="5300000" cy="5227393"/>
          </a:xfrm>
          <a:prstGeom prst="rect">
            <a:avLst/>
          </a:prstGeom>
          <a:noFill/>
        </p:spPr>
        <p:txBody>
          <a:bodyPr wrap="square">
            <a:spAutoFit/>
          </a:bodyPr>
          <a:lstStyle/>
          <a:p>
            <a:pPr>
              <a:buNone/>
            </a:pPr>
            <a:r>
              <a:rPr lang="en-IN" sz="3200" b="1" dirty="0">
                <a:solidFill>
                  <a:schemeClr val="tx2"/>
                </a:solidFill>
                <a:latin typeface="Times New Roman" panose="02020603050405020304" pitchFamily="18" charset="0"/>
                <a:cs typeface="Times New Roman" panose="02020603050405020304" pitchFamily="18" charset="0"/>
              </a:rPr>
              <a:t>Proposed System:</a:t>
            </a:r>
          </a:p>
          <a:p>
            <a:pPr>
              <a:buNone/>
            </a:pPr>
            <a:endParaRPr lang="en-IN" sz="800" dirty="0"/>
          </a:p>
          <a:p>
            <a:pPr marL="342900" lvl="0" indent="-342900">
              <a:lnSpc>
                <a:spcPct val="120000"/>
              </a:lnSpc>
              <a:buFont typeface="Arial" panose="020B0604020202020204" pitchFamily="34" charset="0"/>
              <a:buChar char="•"/>
            </a:pPr>
            <a:r>
              <a:rPr lang="en-IN" sz="1700" dirty="0">
                <a:latin typeface="Times New Roman" panose="02020603050405020304" pitchFamily="18" charset="0"/>
                <a:cs typeface="Times New Roman" panose="02020603050405020304" pitchFamily="18" charset="0"/>
              </a:rPr>
              <a:t>Upload an image, PDF, Word or PowerPoint file, or capture with the camera</a:t>
            </a:r>
          </a:p>
          <a:p>
            <a:pPr marL="342900" lvl="0" indent="-342900">
              <a:lnSpc>
                <a:spcPct val="120000"/>
              </a:lnSpc>
              <a:buFont typeface="Arial" panose="020B0604020202020204" pitchFamily="34" charset="0"/>
              <a:buChar char="•"/>
            </a:pPr>
            <a:r>
              <a:rPr lang="en-IN" sz="1700" dirty="0">
                <a:latin typeface="Times New Roman" panose="02020603050405020304" pitchFamily="18" charset="0"/>
                <a:cs typeface="Times New Roman" panose="02020603050405020304" pitchFamily="18" charset="0"/>
              </a:rPr>
              <a:t>Scanned pages: grey-scale, 224×224 windows every 112 px, EfficientNetV2B0 score per window</a:t>
            </a:r>
          </a:p>
          <a:p>
            <a:pPr marL="342900" lvl="0" indent="-342900">
              <a:lnSpc>
                <a:spcPct val="120000"/>
              </a:lnSpc>
              <a:buFont typeface="Arial" panose="020B0604020202020204" pitchFamily="34" charset="0"/>
              <a:buChar char="•"/>
            </a:pPr>
            <a:r>
              <a:rPr lang="en-IN" sz="1700" dirty="0">
                <a:latin typeface="Times New Roman" panose="02020603050405020304" pitchFamily="18" charset="0"/>
                <a:cs typeface="Times New Roman" panose="02020603050405020304" pitchFamily="18" charset="0"/>
              </a:rPr>
              <a:t>Document score = most suspicious window, compared with a threshold chosen on validation data</a:t>
            </a:r>
          </a:p>
          <a:p>
            <a:pPr marL="342900" lvl="0" indent="-342900">
              <a:lnSpc>
                <a:spcPct val="120000"/>
              </a:lnSpc>
              <a:buFont typeface="Arial" panose="020B0604020202020204" pitchFamily="34" charset="0"/>
              <a:buChar char="•"/>
            </a:pPr>
            <a:r>
              <a:rPr lang="en-IN" sz="1700" dirty="0">
                <a:latin typeface="Times New Roman" panose="02020603050405020304" pitchFamily="18" charset="0"/>
                <a:cs typeface="Times New Roman" panose="02020603050405020304" pitchFamily="18" charset="0"/>
              </a:rPr>
              <a:t>Grad-CAM heatmap, flagged regions and plain-language reasons</a:t>
            </a:r>
          </a:p>
          <a:p>
            <a:pPr marL="342900" lvl="0" indent="-342900">
              <a:lnSpc>
                <a:spcPct val="120000"/>
              </a:lnSpc>
              <a:buFont typeface="Arial" panose="020B0604020202020204" pitchFamily="34" charset="0"/>
              <a:buChar char="•"/>
            </a:pPr>
            <a:r>
              <a:rPr lang="en-IN" sz="1700" dirty="0">
                <a:latin typeface="Times New Roman" panose="02020603050405020304" pitchFamily="18" charset="0"/>
                <a:cs typeface="Times New Roman" panose="02020603050405020304" pitchFamily="18" charset="0"/>
              </a:rPr>
              <a:t>Digital files: metadata check (editor, dates, re-saves) instead of pixels</a:t>
            </a:r>
          </a:p>
        </p:txBody>
      </p:sp>
      <p:pic>
        <p:nvPicPr>
          <p:cNvPr id="4" name="Picture 3" descr="architecture.png"/>
          <p:cNvPicPr>
            <a:picLocks noChangeAspect="1"/>
          </p:cNvPicPr>
          <p:nvPr/>
        </p:nvPicPr>
        <p:blipFill>
          <a:blip r:embed="rId2"/>
          <a:stretch>
            <a:fillRect/>
          </a:stretch>
        </p:blipFill>
        <p:spPr>
          <a:xfrm>
            <a:off x="5850000" y="1250000"/>
            <a:ext cx="6000000" cy="357678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E53C02C5-5CF2-0687-A2A6-2DC363841C1F}"/>
              </a:ext>
            </a:extLst>
          </p:cNvPr>
          <p:cNvSpPr txBox="1"/>
          <p:nvPr/>
        </p:nvSpPr>
        <p:spPr>
          <a:xfrm>
            <a:off x="419876" y="700000"/>
            <a:ext cx="11300000" cy="5227393"/>
          </a:xfrm>
          <a:prstGeom prst="rect">
            <a:avLst/>
          </a:prstGeom>
          <a:noFill/>
        </p:spPr>
        <p:txBody>
          <a:bodyPr wrap="square">
            <a:spAutoFit/>
          </a:bodyPr>
          <a:lstStyle/>
          <a:p>
            <a:pPr>
              <a:buNone/>
            </a:pPr>
            <a:r>
              <a:rPr lang="en-IN" sz="3200" b="1" dirty="0">
                <a:solidFill>
                  <a:schemeClr val="tx2"/>
                </a:solidFill>
                <a:latin typeface="Times New Roman" panose="02020603050405020304" pitchFamily="18" charset="0"/>
                <a:cs typeface="Times New Roman" panose="02020603050405020304" pitchFamily="18" charset="0"/>
              </a:rPr>
              <a:t>Methodology:</a:t>
            </a:r>
          </a:p>
          <a:p>
            <a:pPr>
              <a:buNone/>
            </a:pPr>
            <a:endParaRPr lang="en-IN" sz="600" dirty="0"/>
          </a:p>
          <a:p>
            <a:pPr algn="just">
              <a:lnSpc>
                <a:spcPct val="130000"/>
              </a:lnSpc>
              <a:buNone/>
            </a:pPr>
            <a:r>
              <a:rPr lang="en-IN" sz="1700" dirty="0">
                <a:latin typeface="Times New Roman" panose="02020603050405020304" pitchFamily="18" charset="0"/>
                <a:cs typeface="Times New Roman" panose="02020603050405020304" pitchFamily="18" charset="0"/>
              </a:rPr>
              <a:t>Training patches are 224 × 224 windows cut at the original resolution: 1,638 tampered windows around the 273 annotated edits and 2,695 genuine windows. EfficientNetV2B0 (ImageNet weights) is fine-tuned in two phases with balanced class weights.</a:t>
            </a:r>
          </a:p>
        </p:txBody>
      </p:sp>
      <p:pic>
        <p:nvPicPr>
          <p:cNvPr id="4" name="Picture 3" descr="pipeline.png"/>
          <p:cNvPicPr>
            <a:picLocks noChangeAspect="1"/>
          </p:cNvPicPr>
          <p:nvPr/>
        </p:nvPicPr>
        <p:blipFill>
          <a:blip r:embed="rId2"/>
          <a:stretch>
            <a:fillRect/>
          </a:stretch>
        </p:blipFill>
        <p:spPr>
          <a:xfrm>
            <a:off x="900000" y="3050000"/>
            <a:ext cx="10400000" cy="318191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E53C02C5-5CF2-0687-A2A6-2DC363841C1F}"/>
              </a:ext>
            </a:extLst>
          </p:cNvPr>
          <p:cNvSpPr txBox="1"/>
          <p:nvPr/>
        </p:nvSpPr>
        <p:spPr>
          <a:xfrm>
            <a:off x="419876" y="700000"/>
            <a:ext cx="5600000" cy="5227393"/>
          </a:xfrm>
          <a:prstGeom prst="rect">
            <a:avLst/>
          </a:prstGeom>
          <a:noFill/>
        </p:spPr>
        <p:txBody>
          <a:bodyPr wrap="square">
            <a:spAutoFit/>
          </a:bodyPr>
          <a:lstStyle/>
          <a:p>
            <a:pPr>
              <a:buNone/>
            </a:pPr>
            <a:r>
              <a:rPr lang="en-IN" sz="3200" b="1" dirty="0">
                <a:solidFill>
                  <a:schemeClr val="tx2"/>
                </a:solidFill>
                <a:latin typeface="Times New Roman" panose="02020603050405020304" pitchFamily="18" charset="0"/>
                <a:cs typeface="Times New Roman" panose="02020603050405020304" pitchFamily="18" charset="0"/>
              </a:rPr>
              <a:t>Results on 218 Test Receipts:</a:t>
            </a:r>
          </a:p>
          <a:p>
            <a:pPr>
              <a:buNone/>
            </a:pPr>
            <a:endParaRPr lang="en-IN" sz="600" dirty="0"/>
          </a:p>
          <a:p>
            <a:pPr marL="342900" lvl="0" indent="-342900">
              <a:lnSpc>
                <a:spcPct val="125000"/>
              </a:lnSpc>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Accuracy: 43.58%</a:t>
            </a:r>
          </a:p>
          <a:p>
            <a:pPr marL="342900" lvl="0" indent="-342900">
              <a:lnSpc>
                <a:spcPct val="125000"/>
              </a:lnSpc>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Precision: 16.67%</a:t>
            </a:r>
          </a:p>
          <a:p>
            <a:pPr marL="342900" lvl="0" indent="-342900">
              <a:lnSpc>
                <a:spcPct val="125000"/>
              </a:lnSpc>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Recall: 62.86%</a:t>
            </a:r>
          </a:p>
          <a:p>
            <a:pPr marL="342900" lvl="0" indent="-342900">
              <a:lnSpc>
                <a:spcPct val="125000"/>
              </a:lnSpc>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F1-score: 26.35%</a:t>
            </a:r>
          </a:p>
          <a:p>
            <a:pPr marL="342900" lvl="0" indent="-342900">
              <a:lnSpc>
                <a:spcPct val="125000"/>
              </a:lnSpc>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ROC-AUC: 47.04% (50% = random guessing)</a:t>
            </a:r>
          </a:p>
          <a:p>
            <a:pPr marL="342900" lvl="0" indent="-342900">
              <a:lnSpc>
                <a:spcPct val="125000"/>
              </a:lnSpc>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Tampered receipts caught: 22 of 35</a:t>
            </a:r>
          </a:p>
          <a:p>
            <a:pPr marL="342900" lvl="0" indent="-342900">
              <a:lnSpc>
                <a:spcPct val="125000"/>
              </a:lnSpc>
              <a:buFont typeface="Arial" panose="020B0604020202020204" pitchFamily="34" charset="0"/>
              <a:buChar char="•"/>
            </a:pPr>
            <a:r>
              <a:rPr lang="en-IN" sz="1800" dirty="0">
                <a:latin typeface="Times New Roman" panose="02020603050405020304" pitchFamily="18" charset="0"/>
                <a:cs typeface="Times New Roman" panose="02020603050405020304" pitchFamily="18" charset="0"/>
              </a:rPr>
              <a:t>Genuine wrongly flagged: 110 of 183</a:t>
            </a:r>
          </a:p>
        </p:txBody>
      </p:sp>
      <p:pic>
        <p:nvPicPr>
          <p:cNvPr id="4" name="Picture 3" descr="metrics_chart.png"/>
          <p:cNvPicPr>
            <a:picLocks noChangeAspect="1"/>
          </p:cNvPicPr>
          <p:nvPr/>
        </p:nvPicPr>
        <p:blipFill>
          <a:blip r:embed="rId2"/>
          <a:stretch>
            <a:fillRect/>
          </a:stretch>
        </p:blipFill>
        <p:spPr>
          <a:xfrm>
            <a:off x="6150000" y="1500000"/>
            <a:ext cx="5700000" cy="3065133"/>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E53C02C5-5CF2-0687-A2A6-2DC363841C1F}"/>
              </a:ext>
            </a:extLst>
          </p:cNvPr>
          <p:cNvSpPr txBox="1"/>
          <p:nvPr/>
        </p:nvSpPr>
        <p:spPr>
          <a:xfrm>
            <a:off x="419876" y="700000"/>
            <a:ext cx="11300000" cy="5227393"/>
          </a:xfrm>
          <a:prstGeom prst="rect">
            <a:avLst/>
          </a:prstGeom>
          <a:noFill/>
        </p:spPr>
        <p:txBody>
          <a:bodyPr wrap="square">
            <a:spAutoFit/>
          </a:bodyPr>
          <a:lstStyle/>
          <a:p>
            <a:pPr>
              <a:buNone/>
            </a:pPr>
            <a:r>
              <a:rPr lang="en-IN" sz="3200" b="1" dirty="0">
                <a:solidFill>
                  <a:schemeClr val="tx2"/>
                </a:solidFill>
                <a:latin typeface="Times New Roman" panose="02020603050405020304" pitchFamily="18" charset="0"/>
                <a:cs typeface="Times New Roman" panose="02020603050405020304" pitchFamily="18" charset="0"/>
              </a:rPr>
              <a:t>Confusion Matrix and ROC Curve:</a:t>
            </a:r>
          </a:p>
        </p:txBody>
      </p:sp>
      <p:pic>
        <p:nvPicPr>
          <p:cNvPr id="4" name="Picture 3" descr="confusion_matrix.png"/>
          <p:cNvPicPr>
            <a:picLocks noChangeAspect="1"/>
          </p:cNvPicPr>
          <p:nvPr/>
        </p:nvPicPr>
        <p:blipFill>
          <a:blip r:embed="rId2"/>
          <a:stretch>
            <a:fillRect/>
          </a:stretch>
        </p:blipFill>
        <p:spPr>
          <a:xfrm>
            <a:off x="700000" y="1500000"/>
            <a:ext cx="4945000" cy="4300000"/>
          </a:xfrm>
          <a:prstGeom prst="rect">
            <a:avLst/>
          </a:prstGeom>
        </p:spPr>
      </p:pic>
      <p:pic>
        <p:nvPicPr>
          <p:cNvPr id="5" name="Picture 4" descr="roc_curve.png"/>
          <p:cNvPicPr>
            <a:picLocks noChangeAspect="1"/>
          </p:cNvPicPr>
          <p:nvPr/>
        </p:nvPicPr>
        <p:blipFill>
          <a:blip r:embed="rId3"/>
          <a:stretch>
            <a:fillRect/>
          </a:stretch>
        </p:blipFill>
        <p:spPr>
          <a:xfrm>
            <a:off x="6300000" y="1500000"/>
            <a:ext cx="4945000" cy="4300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E53C02C5-5CF2-0687-A2A6-2DC363841C1F}"/>
              </a:ext>
            </a:extLst>
          </p:cNvPr>
          <p:cNvSpPr txBox="1"/>
          <p:nvPr/>
        </p:nvSpPr>
        <p:spPr>
          <a:xfrm>
            <a:off x="419876" y="700000"/>
            <a:ext cx="11300000" cy="5227393"/>
          </a:xfrm>
          <a:prstGeom prst="rect">
            <a:avLst/>
          </a:prstGeom>
          <a:noFill/>
        </p:spPr>
        <p:txBody>
          <a:bodyPr wrap="square">
            <a:spAutoFit/>
          </a:bodyPr>
          <a:lstStyle/>
          <a:p>
            <a:pPr>
              <a:buNone/>
            </a:pPr>
            <a:r>
              <a:rPr lang="en-IN" sz="3200" b="1" dirty="0">
                <a:solidFill>
                  <a:schemeClr val="tx2"/>
                </a:solidFill>
                <a:latin typeface="Times New Roman" panose="02020603050405020304" pitchFamily="18" charset="0"/>
                <a:cs typeface="Times New Roman" panose="02020603050405020304" pitchFamily="18" charset="0"/>
              </a:rPr>
              <a:t>Why the Earlier 97.85% Was Misleading:</a:t>
            </a:r>
          </a:p>
          <a:p>
            <a:pPr>
              <a:buNone/>
            </a:pPr>
            <a:endParaRPr lang="en-IN" sz="600" dirty="0"/>
          </a:p>
          <a:p>
            <a:pPr marL="342900" lvl="0" indent="-342900">
              <a:lnSpc>
                <a:spcPct val="125000"/>
              </a:lnSpc>
              <a:buFont typeface="Arial" panose="020B0604020202020204" pitchFamily="34" charset="0"/>
              <a:buChar char="•"/>
            </a:pPr>
            <a:r>
              <a:rPr lang="en-IN" sz="1700" dirty="0">
                <a:latin typeface="Times New Roman" panose="02020603050405020304" pitchFamily="18" charset="0"/>
                <a:cs typeface="Times New Roman" panose="02020603050405020304" pitchFamily="18" charset="0"/>
              </a:rPr>
              <a:t>Old tampered patches: tiny crops (~80 px) enlarged 3×; genuine patches: 256 px crops shrunk</a:t>
            </a:r>
          </a:p>
          <a:p>
            <a:pPr marL="342900" lvl="0" indent="-342900">
              <a:lnSpc>
                <a:spcPct val="125000"/>
              </a:lnSpc>
              <a:buFont typeface="Arial" panose="020B0604020202020204" pitchFamily="34" charset="0"/>
              <a:buChar char="•"/>
            </a:pPr>
            <a:r>
              <a:rPr lang="en-IN" sz="1700" dirty="0">
                <a:latin typeface="Times New Roman" panose="02020603050405020304" pitchFamily="18" charset="0"/>
                <a:cs typeface="Times New Roman" panose="02020603050405020304" pitchFamily="18" charset="0"/>
              </a:rPr>
              <a:t>The model learned the zoom level, not the tampering</a:t>
            </a:r>
          </a:p>
          <a:p>
            <a:pPr marL="342900" lvl="0" indent="-342900">
              <a:lnSpc>
                <a:spcPct val="125000"/>
              </a:lnSpc>
              <a:buFont typeface="Arial" panose="020B0604020202020204" pitchFamily="34" charset="0"/>
              <a:buChar char="•"/>
            </a:pPr>
            <a:r>
              <a:rPr lang="en-IN" sz="1700" dirty="0">
                <a:latin typeface="Times New Roman" panose="02020603050405020304" pitchFamily="18" charset="0"/>
                <a:cs typeface="Times New Roman" panose="02020603050405020304" pitchFamily="18" charset="0"/>
              </a:rPr>
              <a:t>Tested on whole receipts: 49.5% accuracy, AUC 0.44 (chance level)</a:t>
            </a:r>
          </a:p>
          <a:p>
            <a:pPr marL="342900" lvl="0" indent="-342900">
              <a:lnSpc>
                <a:spcPct val="125000"/>
              </a:lnSpc>
              <a:buFont typeface="Arial" panose="020B0604020202020204" pitchFamily="34" charset="0"/>
              <a:buChar char="•"/>
            </a:pPr>
            <a:r>
              <a:rPr lang="en-IN" sz="1700" dirty="0">
                <a:latin typeface="Times New Roman" panose="02020603050405020304" pitchFamily="18" charset="0"/>
                <a:cs typeface="Times New Roman" panose="02020603050405020304" pitchFamily="18" charset="0"/>
              </a:rPr>
              <a:t>Fix: every patch is a 224×224 window at the original scale, and evaluation uses whole documents</a:t>
            </a:r>
          </a:p>
          <a:p>
            <a:pPr marL="342900" lvl="0" indent="-342900">
              <a:lnSpc>
                <a:spcPct val="125000"/>
              </a:lnSpc>
              <a:buFont typeface="Arial" panose="020B0604020202020204" pitchFamily="34" charset="0"/>
              <a:buChar char="•"/>
            </a:pPr>
            <a:r>
              <a:rPr lang="en-IN" sz="1700" dirty="0">
                <a:latin typeface="Times New Roman" panose="02020603050405020304" pitchFamily="18" charset="0"/>
                <a:cs typeface="Times New Roman" panose="02020603050405020304" pitchFamily="18" charset="0"/>
              </a:rPr>
              <a:t>Final model: detects 22 of 35 tampered receipts (was 14) but flags 110 of 183 genuine ones (was 89)</a:t>
            </a:r>
          </a:p>
          <a:p>
            <a:pPr marL="342900" lvl="0" indent="-342900">
              <a:lnSpc>
                <a:spcPct val="125000"/>
              </a:lnSpc>
              <a:buFont typeface="Arial" panose="020B0604020202020204" pitchFamily="34" charset="0"/>
              <a:buChar char="•"/>
            </a:pPr>
            <a:r>
              <a:rPr lang="en-IN" sz="1700" dirty="0">
                <a:latin typeface="Times New Roman" panose="02020603050405020304" pitchFamily="18" charset="0"/>
                <a:cs typeface="Times New Roman" panose="02020603050405020304" pitchFamily="18" charset="0"/>
              </a:rPr>
              <a:t>The final numbers are lower, but they describe what users of the website actually 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E53C02C5-5CF2-0687-A2A6-2DC363841C1F}"/>
              </a:ext>
            </a:extLst>
          </p:cNvPr>
          <p:cNvSpPr txBox="1"/>
          <p:nvPr/>
        </p:nvSpPr>
        <p:spPr>
          <a:xfrm>
            <a:off x="419876" y="700000"/>
            <a:ext cx="11300000" cy="5227393"/>
          </a:xfrm>
          <a:prstGeom prst="rect">
            <a:avLst/>
          </a:prstGeom>
          <a:noFill/>
        </p:spPr>
        <p:txBody>
          <a:bodyPr wrap="square">
            <a:spAutoFit/>
          </a:bodyPr>
          <a:lstStyle/>
          <a:p>
            <a:pPr>
              <a:buNone/>
            </a:pPr>
            <a:r>
              <a:rPr lang="en-IN" sz="3200" b="1" dirty="0">
                <a:solidFill>
                  <a:schemeClr val="tx2"/>
                </a:solidFill>
                <a:latin typeface="Times New Roman" panose="02020603050405020304" pitchFamily="18" charset="0"/>
                <a:cs typeface="Times New Roman" panose="02020603050405020304" pitchFamily="18" charset="0"/>
              </a:rPr>
              <a:t>Screenshots – Tampered Receipt Detected:</a:t>
            </a:r>
          </a:p>
        </p:txBody>
      </p:sp>
      <p:pic>
        <p:nvPicPr>
          <p:cNvPr id="4" name="Picture 3" descr="shot_result_top.png"/>
          <p:cNvPicPr>
            <a:picLocks noChangeAspect="1"/>
          </p:cNvPicPr>
          <p:nvPr/>
        </p:nvPicPr>
        <p:blipFill>
          <a:blip r:embed="rId2"/>
          <a:stretch>
            <a:fillRect/>
          </a:stretch>
        </p:blipFill>
        <p:spPr>
          <a:xfrm>
            <a:off x="420000" y="1450000"/>
            <a:ext cx="5550000" cy="4400357"/>
          </a:xfrm>
          <a:prstGeom prst="rect">
            <a:avLst/>
          </a:prstGeom>
        </p:spPr>
      </p:pic>
      <p:pic>
        <p:nvPicPr>
          <p:cNvPr id="5" name="Picture 4" descr="shot_result_map.png"/>
          <p:cNvPicPr>
            <a:picLocks noChangeAspect="1"/>
          </p:cNvPicPr>
          <p:nvPr/>
        </p:nvPicPr>
        <p:blipFill>
          <a:blip r:embed="rId3"/>
          <a:stretch>
            <a:fillRect/>
          </a:stretch>
        </p:blipFill>
        <p:spPr>
          <a:xfrm>
            <a:off x="6150000" y="1450000"/>
            <a:ext cx="5600000" cy="4120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E53C02C5-5CF2-0687-A2A6-2DC363841C1F}"/>
              </a:ext>
            </a:extLst>
          </p:cNvPr>
          <p:cNvSpPr txBox="1"/>
          <p:nvPr/>
        </p:nvSpPr>
        <p:spPr>
          <a:xfrm>
            <a:off x="419876" y="700000"/>
            <a:ext cx="11300000" cy="5227393"/>
          </a:xfrm>
          <a:prstGeom prst="rect">
            <a:avLst/>
          </a:prstGeom>
          <a:noFill/>
        </p:spPr>
        <p:txBody>
          <a:bodyPr wrap="square">
            <a:spAutoFit/>
          </a:bodyPr>
          <a:lstStyle/>
          <a:p>
            <a:pPr>
              <a:buNone/>
            </a:pPr>
            <a:r>
              <a:rPr lang="en-IN" sz="3200" b="1" dirty="0">
                <a:solidFill>
                  <a:schemeClr val="tx2"/>
                </a:solidFill>
                <a:latin typeface="Times New Roman" panose="02020603050405020304" pitchFamily="18" charset="0"/>
                <a:cs typeface="Times New Roman" panose="02020603050405020304" pitchFamily="18" charset="0"/>
              </a:rPr>
              <a:t>Screenshots – Digital Files (PDF, Word, PowerPoint):</a:t>
            </a:r>
          </a:p>
        </p:txBody>
      </p:sp>
      <p:sp>
        <p:nvSpPr>
          <p:cNvPr id="3" name="TextBox 2">
            <a:extLst>
              <a:ext uri="{FF2B5EF4-FFF2-40B4-BE49-F238E27FC236}">
                <a16:creationId xmlns:a16="http://schemas.microsoft.com/office/drawing/2014/main" id="{E53C02C5-5CF2-0687-A2A6-2DC363841C1F}"/>
              </a:ext>
            </a:extLst>
          </p:cNvPr>
          <p:cNvSpPr txBox="1"/>
          <p:nvPr/>
        </p:nvSpPr>
        <p:spPr>
          <a:xfrm>
            <a:off x="419876" y="1500000"/>
            <a:ext cx="4600000" cy="5227393"/>
          </a:xfrm>
          <a:prstGeom prst="rect">
            <a:avLst/>
          </a:prstGeom>
          <a:noFill/>
        </p:spPr>
        <p:txBody>
          <a:bodyPr wrap="square">
            <a:spAutoFit/>
          </a:bodyPr>
          <a:lstStyle/>
          <a:p>
            <a:pPr marL="342900" lvl="0" indent="-342900">
              <a:lnSpc>
                <a:spcPct val="125000"/>
              </a:lnSpc>
              <a:buFont typeface="Arial" panose="020B0604020202020204" pitchFamily="34" charset="0"/>
              <a:buChar char="•"/>
            </a:pPr>
            <a:r>
              <a:rPr lang="en-IN" sz="1700" dirty="0">
                <a:latin typeface="Times New Roman" panose="02020603050405020304" pitchFamily="18" charset="0"/>
                <a:cs typeface="Times New Roman" panose="02020603050405020304" pitchFamily="18" charset="0"/>
              </a:rPr>
              <a:t>Typed Word, PowerPoint and digital PDF files have no scan traces</a:t>
            </a:r>
          </a:p>
          <a:p>
            <a:pPr marL="342900" lvl="0" indent="-342900">
              <a:lnSpc>
                <a:spcPct val="125000"/>
              </a:lnSpc>
              <a:buFont typeface="Arial" panose="020B0604020202020204" pitchFamily="34" charset="0"/>
              <a:buChar char="•"/>
            </a:pPr>
            <a:r>
              <a:rPr lang="en-IN" sz="1700" dirty="0">
                <a:latin typeface="Times New Roman" panose="02020603050405020304" pitchFamily="18" charset="0"/>
                <a:cs typeface="Times New Roman" panose="02020603050405020304" pitchFamily="18" charset="0"/>
              </a:rPr>
              <a:t>The system checks the file metadata instead</a:t>
            </a:r>
          </a:p>
          <a:p>
            <a:pPr marL="342900" lvl="0" indent="-342900">
              <a:lnSpc>
                <a:spcPct val="125000"/>
              </a:lnSpc>
              <a:buFont typeface="Arial" panose="020B0604020202020204" pitchFamily="34" charset="0"/>
              <a:buChar char="•"/>
            </a:pPr>
            <a:r>
              <a:rPr lang="en-IN" sz="1700" dirty="0">
                <a:latin typeface="Times New Roman" panose="02020603050405020304" pitchFamily="18" charset="0"/>
                <a:cs typeface="Times New Roman" panose="02020603050405020304" pitchFamily="18" charset="0"/>
              </a:rPr>
              <a:t>Example: an invoice PDF whose amount was changed and re-saved with iLovePDF</a:t>
            </a:r>
          </a:p>
          <a:p>
            <a:pPr marL="342900" lvl="0" indent="-342900">
              <a:lnSpc>
                <a:spcPct val="125000"/>
              </a:lnSpc>
              <a:buFont typeface="Arial" panose="020B0604020202020204" pitchFamily="34" charset="0"/>
              <a:buChar char="•"/>
            </a:pPr>
            <a:r>
              <a:rPr lang="en-IN" sz="1700" dirty="0">
                <a:latin typeface="Times New Roman" panose="02020603050405020304" pitchFamily="18" charset="0"/>
                <a:cs typeface="Times New Roman" panose="02020603050405020304" pitchFamily="18" charset="0"/>
              </a:rPr>
              <a:t>Result: 3 editing signals found</a:t>
            </a:r>
          </a:p>
        </p:txBody>
      </p:sp>
      <p:pic>
        <p:nvPicPr>
          <p:cNvPr id="4" name="Picture 3" descr="digital.png"/>
          <p:cNvPicPr>
            <a:picLocks noChangeAspect="1"/>
          </p:cNvPicPr>
          <p:nvPr/>
        </p:nvPicPr>
        <p:blipFill>
          <a:blip r:embed="rId2"/>
          <a:stretch>
            <a:fillRect/>
          </a:stretch>
        </p:blipFill>
        <p:spPr>
          <a:xfrm>
            <a:off x="5250000" y="1450000"/>
            <a:ext cx="6500000" cy="5339286"/>
          </a:xfrm>
          <a:prstGeom prst="rect">
            <a:avLst/>
          </a:prstGeom>
        </p:spPr>
      </p:pic>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larity">
  <a:themeElements>
    <a:clrScheme name="Clarity">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Office Classic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larity">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