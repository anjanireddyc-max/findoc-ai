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viewProps1.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5" r:id="rId14"/>
    <p:sldId id="266" r:id="rId15"/>
    <p:sldId id="262" r:id="rId11"/>
    <p:sldId id="267" r:id="rId16"/>
    <p:sldId id="268" r:id="rId17"/>
    <p:sldId id="269" r:id="rId18"/>
    <p:sldId id="270" r:id="rId19"/>
    <p:sldId id="271" r:id="rId20"/>
    <p:sldId id="263" r:id="rId12"/>
    <p:sldId id="264" r:id="rId13"/>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07-08-2026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07-08-2026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07-08-2026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hyperlink" Target="http://www.mallareddyuniversity.ac.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66242" y="116429"/>
            <a:ext cx="12014522" cy="6382984"/>
          </a:xfrm>
        </p:spPr>
        <p:txBody>
          <a:bodyPr>
            <a:normAutofit fontScale="90000"/>
          </a:bodyPr>
          <a:lstStyle/>
          <a:p>
            <a:pPr algn="ctr" fontAlgn="ctr">
              <a:spcBef>
                <a:spcPts val="0"/>
              </a:spcBef>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b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b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b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24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Information Technology</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i="0" u="none" strike="noStrike" kern="1200" dirty="0">
                <a:solidFill>
                  <a:srgbClr val="0070C0"/>
                </a:solidFill>
                <a:effectLst/>
                <a:latin typeface="Arial" panose="020B0604020202020204" pitchFamily="34" charset="0"/>
              </a:rPr>
              <a:t>III </a:t>
            </a:r>
            <a:r>
              <a:rPr lang="en-US" sz="1800" b="1" i="0" u="none" strike="noStrike" kern="1200" dirty="0" err="1">
                <a:solidFill>
                  <a:srgbClr val="0070C0"/>
                </a:solidFill>
                <a:effectLst/>
                <a:latin typeface="Arial" panose="020B0604020202020204" pitchFamily="34" charset="0"/>
              </a:rPr>
              <a:t>B.Tech</a:t>
            </a:r>
            <a:r>
              <a:rPr lang="en-US" sz="1800" b="1" i="0" u="none" strike="noStrike" kern="1200" dirty="0">
                <a:solidFill>
                  <a:srgbClr val="0070C0"/>
                </a:solidFill>
                <a:effectLst/>
                <a:latin typeface="Arial" panose="020B0604020202020204" pitchFamily="34" charset="0"/>
              </a:rPr>
              <a:t> I Sem - AD</a:t>
            </a:r>
            <a:br>
              <a:rPr lang="en-IN" sz="2800" b="0" i="0" u="none" strike="noStrike" dirty="0">
                <a:effectLst/>
                <a:latin typeface="Arial" panose="020B0604020202020204" pitchFamily="34" charset="0"/>
              </a:rPr>
            </a:br>
            <a:r>
              <a:rPr lang="en-US" sz="1800" b="1" i="0" u="none" strike="noStrike" kern="1200" dirty="0">
                <a:solidFill>
                  <a:srgbClr val="0070C0"/>
                </a:solidFill>
                <a:effectLst/>
                <a:latin typeface="Arial" panose="020B0604020202020204" pitchFamily="34" charset="0"/>
              </a:rPr>
              <a:t>Industry Oriented Internship – Deep Learning Techniques Development            MR24-1IT0163</a:t>
            </a:r>
            <a:br>
              <a:rPr lang="en-IN" sz="2800" b="0" i="0" u="none" strike="noStrike" dirty="0">
                <a:effectLst/>
                <a:latin typeface="Arial" panose="020B0604020202020204" pitchFamily="34"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200" dirty="0"/>
              <a:t>Financial Document Tampering Detection System Using EfficientNetV2B0 and Grad-CAM</a:t>
            </a:r>
            <a:br>
              <a:rPr lang="en-IN" dirty="0"/>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Batch no. 13</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 2411IT010142 (</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M.Udayini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2. 2411IT010063(</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C.Anjani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3. 2411IT010067(</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C.Sai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Kiran)</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1981200" y="570229"/>
            <a:ext cx="7691718" cy="1145540"/>
          </a:xfrm>
          <a:prstGeom prst="rect">
            <a:avLst/>
          </a:prstGeom>
        </p:spPr>
      </p:pic>
      <p:sp>
        <p:nvSpPr>
          <p:cNvPr id="6" name="Text Box 6"/>
          <p:cNvSpPr txBox="1">
            <a:spLocks noChangeArrowheads="1"/>
          </p:cNvSpPr>
          <p:nvPr/>
        </p:nvSpPr>
        <p:spPr bwMode="auto">
          <a:xfrm>
            <a:off x="4564022" y="1429198"/>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
        <p:nvSpPr>
          <p:cNvPr id="8" name="TextBox 7">
            <a:extLst>
              <a:ext uri="{FF2B5EF4-FFF2-40B4-BE49-F238E27FC236}">
                <a16:creationId xmlns:a16="http://schemas.microsoft.com/office/drawing/2014/main" id="{090C9F53-EED3-46E8-9963-1B608738BEB8}"/>
              </a:ext>
            </a:extLst>
          </p:cNvPr>
          <p:cNvSpPr txBox="1"/>
          <p:nvPr/>
        </p:nvSpPr>
        <p:spPr>
          <a:xfrm>
            <a:off x="741830" y="5312561"/>
            <a:ext cx="6127376" cy="646331"/>
          </a:xfrm>
          <a:prstGeom prst="rect">
            <a:avLst/>
          </a:prstGeom>
          <a:noFill/>
        </p:spPr>
        <p:txBody>
          <a:bodyPr wrap="square">
            <a:spAutoFit/>
          </a:bodyPr>
          <a:lstStyle/>
          <a:p>
            <a: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Guide </a:t>
            </a: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Mrs.G.Devi</a:t>
            </a:r>
            <a:r>
              <a:rPr lang="en-IN" b="1" dirty="0">
                <a:latin typeface="Times New Roman" panose="02020603050405020304" pitchFamily="18" charset="0"/>
                <a:ea typeface="Times New Roman" panose="02020603050405020304" pitchFamily="18" charset="0"/>
                <a:cs typeface="Times New Roman" panose="02020603050405020304" pitchFamily="18" charset="0"/>
              </a:rPr>
              <a:t> Priya</a:t>
            </a:r>
            <a:endParaRPr lang="en-IN" dirty="0"/>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3" name="TextBox 2"/>
          <p:cNvSpPr txBox="1"/>
          <p:nvPr/>
        </p:nvSpPr>
        <p:spPr>
          <a:xfrm>
            <a:off x="2177934" y="1524000"/>
            <a:ext cx="9404465" cy="3693319"/>
          </a:xfrm>
          <a:prstGeom prst="rect">
            <a:avLst/>
          </a:prstGeom>
          <a:noFill/>
        </p:spPr>
        <p:txBody>
          <a:bodyPr wrap="square" rtlCol="0">
            <a:spAutoFit/>
          </a:bodyPr>
          <a:lstStyle/>
          <a:p>
            <a:pPr marL="285750" indent="-285750">
              <a:lnSpc>
                <a:spcPct val="200000"/>
              </a:lnSpc>
              <a:buClr>
                <a:schemeClr val="tx2"/>
              </a:buClr>
              <a:buFont typeface="Wingdings" panose="05000000000000000000" pitchFamily="2" charset="2"/>
              <a:buChar char="Ø"/>
            </a:pPr>
            <a:r>
              <a:rPr lang="en-IN" dirty="0" sz="1600"/>
              <a:t>Introduction</a:t>
            </a:r>
          </a:p>
          <a:p>
            <a:pPr marL="285750" indent="-285750">
              <a:lnSpc>
                <a:spcPct val="200000"/>
              </a:lnSpc>
              <a:buClr>
                <a:schemeClr val="tx2"/>
              </a:buClr>
              <a:buFont typeface="Wingdings" panose="05000000000000000000" pitchFamily="2" charset="2"/>
              <a:buChar char="Ø"/>
            </a:pPr>
            <a:r>
              <a:rPr lang="en-IN" dirty="0" sz="1600"/>
              <a:t>Literature Survey</a:t>
            </a:r>
          </a:p>
          <a:p>
            <a:pPr marL="285750" indent="-285750">
              <a:lnSpc>
                <a:spcPct val="200000"/>
              </a:lnSpc>
              <a:buClr>
                <a:schemeClr val="tx2"/>
              </a:buClr>
              <a:buFont typeface="Wingdings" panose="05000000000000000000" pitchFamily="2" charset="2"/>
              <a:buChar char="Ø"/>
            </a:pPr>
            <a:r>
              <a:rPr lang="en-IN" dirty="0" sz="1600"/>
              <a:t>Limitations of Existing Algorithms/Methodologies</a:t>
            </a:r>
          </a:p>
          <a:p>
            <a:pPr marL="285750" indent="-285750">
              <a:lnSpc>
                <a:spcPct val="200000"/>
              </a:lnSpc>
              <a:buClr>
                <a:schemeClr val="tx2"/>
              </a:buClr>
              <a:buFont typeface="Wingdings" panose="05000000000000000000" pitchFamily="2" charset="2"/>
              <a:buChar char="Ø"/>
            </a:pPr>
            <a:r>
              <a:rPr lang="en-IN" dirty="0" sz="1600"/>
              <a:t>Abstract</a:t>
            </a:r>
          </a:p>
          <a:p>
            <a:pPr marL="285750" indent="-285750">
              <a:lnSpc>
                <a:spcPct val="200000"/>
              </a:lnSpc>
              <a:buClr>
                <a:schemeClr val="tx2"/>
              </a:buClr>
              <a:buFont typeface="Wingdings" panose="05000000000000000000" pitchFamily="2" charset="2"/>
              <a:buChar char="Ø"/>
            </a:pPr>
            <a:r>
              <a:rPr lang="en-IN" dirty="0" sz="1600"/>
              <a:t>Proposed System and Methodology</a:t>
            </a:r>
          </a:p>
          <a:p>
            <a:pPr marL="285750" indent="-285750">
              <a:lnSpc>
                <a:spcPct val="200000"/>
              </a:lnSpc>
              <a:buClr>
                <a:schemeClr val="tx2"/>
              </a:buClr>
              <a:buFont typeface="Wingdings" panose="05000000000000000000" pitchFamily="2" charset="2"/>
              <a:buChar char="Ø"/>
            </a:pPr>
            <a:r>
              <a:rPr lang="en-IN" dirty="0" sz="1600"/>
              <a:t>Hardware/Software Requirements</a:t>
            </a:r>
          </a:p>
          <a:p>
            <a:pPr marL="285750" indent="-285750">
              <a:lnSpc>
                <a:spcPct val="200000"/>
              </a:lnSpc>
              <a:buClr>
                <a:schemeClr val="tx2"/>
              </a:buClr>
              <a:buFont typeface="Wingdings" panose="05000000000000000000" pitchFamily="2" charset="2"/>
              <a:buChar char="Ø"/>
            </a:pPr>
            <a:r>
              <a:rPr lang="en-IN" dirty="0" sz="1600"/>
              <a:t>Results on the Test Receipts</a:t>
            </a:r>
          </a:p>
          <a:p>
            <a:pPr marL="285750" indent="-285750">
              <a:lnSpc>
                <a:spcPct val="200000"/>
              </a:lnSpc>
              <a:buClr>
                <a:schemeClr val="tx2"/>
              </a:buClr>
              <a:buFont typeface="Wingdings" panose="05000000000000000000" pitchFamily="2" charset="2"/>
              <a:buChar char="Ø"/>
            </a:pPr>
            <a:r>
              <a:rPr lang="en-IN" dirty="0" sz="1600"/>
              <a:t>From 97.85% to a Working Detector</a:t>
            </a:r>
          </a:p>
          <a:p>
            <a:pPr marL="285750" indent="-285750">
              <a:lnSpc>
                <a:spcPct val="200000"/>
              </a:lnSpc>
              <a:buClr>
                <a:schemeClr val="tx2"/>
              </a:buClr>
              <a:buFont typeface="Wingdings" panose="05000000000000000000" pitchFamily="2" charset="2"/>
              <a:buChar char="Ø"/>
            </a:pPr>
            <a:r>
              <a:rPr lang="en-IN" dirty="0" sz="1600"/>
              <a:t>Screenshots of the Application</a:t>
            </a:r>
          </a:p>
          <a:p>
            <a:pPr marL="285750" indent="-285750">
              <a:lnSpc>
                <a:spcPct val="200000"/>
              </a:lnSpc>
              <a:buClr>
                <a:schemeClr val="tx2"/>
              </a:buClr>
              <a:buFont typeface="Wingdings" panose="05000000000000000000" pitchFamily="2" charset="2"/>
              <a:buChar char="Ø"/>
            </a:pPr>
            <a:r>
              <a:rPr lang="en-IN" dirty="0" sz="1600"/>
              <a:t>Conclusion and Future Scope</a:t>
            </a:r>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3C02C5-5CF2-0687-A2A6-2DC363841C1F}"/>
              </a:ext>
            </a:extLst>
          </p:cNvPr>
          <p:cNvSpPr txBox="1"/>
          <p:nvPr/>
        </p:nvSpPr>
        <p:spPr>
          <a:xfrm>
            <a:off x="419876" y="761247"/>
            <a:ext cx="11411339"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Introduction: </a:t>
            </a:r>
          </a:p>
          <a:p>
            <a:pPr>
              <a:buNone/>
            </a:pPr>
            <a:endParaRPr lang="en-IN" sz="1400" b="1" dirty="0"/>
          </a:p>
          <a:p>
            <a:pPr algn="just">
              <a:lnSpc>
                <a:spcPct val="150000"/>
              </a:lnSpc>
              <a:buNone/>
            </a:pPr>
            <a:r>
              <a:rPr lang="en-IN" sz="2400" dirty="0">
                <a:latin typeface="Times New Roman" panose="02020603050405020304" pitchFamily="18" charset="0"/>
                <a:cs typeface="Times New Roman" panose="02020603050405020304" pitchFamily="18" charset="0"/>
              </a:rPr>
              <a:t>Financial document fraud has become increasingly common with the widespread use of digital editing tools. Documents such as invoices, receipts, bank statements, and bills can be manipulated to alter financial information, resulting in significant losses for organizations. Traditional manual verification methods are time-consuming and prone to human error. This project proposes an Explainable AI-based system that automatically detects whether a financial document is genuine or tampered. The system uses EfficientNetV2B0 for document classification and Grad-CAM to highlight suspicious regions, making the prediction transparent and easy to understand.</a:t>
            </a:r>
          </a:p>
        </p:txBody>
      </p:sp>
    </p:spTree>
    <p:extLst>
      <p:ext uri="{BB962C8B-B14F-4D97-AF65-F5344CB8AC3E}">
        <p14:creationId xmlns:p14="http://schemas.microsoft.com/office/powerpoint/2010/main" val="1353200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8970A0-87A2-6EE5-03BA-544F7A45EBEB}"/>
              </a:ext>
            </a:extLst>
          </p:cNvPr>
          <p:cNvSpPr txBox="1"/>
          <p:nvPr/>
        </p:nvSpPr>
        <p:spPr>
          <a:xfrm>
            <a:off x="373225" y="675811"/>
            <a:ext cx="11262049" cy="4611840"/>
          </a:xfrm>
          <a:prstGeom prst="rect">
            <a:avLst/>
          </a:prstGeom>
          <a:noFill/>
        </p:spPr>
        <p:txBody>
          <a:bodyPr wrap="square">
            <a:spAutoFit/>
          </a:bodyPr>
          <a:lstStyle/>
          <a:p>
            <a:pPr algn="just">
              <a:buNone/>
            </a:pPr>
            <a:r>
              <a:rPr lang="en-IN" sz="3200" b="1" dirty="0">
                <a:solidFill>
                  <a:schemeClr val="tx2"/>
                </a:solidFill>
                <a:latin typeface="Times New Roman" panose="02020603050405020304" pitchFamily="18" charset="0"/>
                <a:cs typeface="Times New Roman" panose="02020603050405020304" pitchFamily="18" charset="0"/>
              </a:rPr>
              <a:t>Literature Survey:</a:t>
            </a:r>
          </a:p>
          <a:p>
            <a:pPr algn="just">
              <a:buNone/>
            </a:pPr>
            <a:endParaRPr lang="en-IN" sz="1400" b="1" dirty="0"/>
          </a:p>
          <a:p>
            <a:pPr algn="just">
              <a:lnSpc>
                <a:spcPct val="150000"/>
              </a:lnSpc>
              <a:buNone/>
            </a:pPr>
            <a:r>
              <a:rPr lang="en-IN" sz="2400" dirty="0">
                <a:latin typeface="Times New Roman" panose="02020603050405020304" pitchFamily="18" charset="0"/>
                <a:cs typeface="Times New Roman" panose="02020603050405020304" pitchFamily="18" charset="0"/>
              </a:rPr>
              <a:t>Several researchers have applied deep learning techniques to document forgery detection using Convolutional Neural Networks (CNNs), </a:t>
            </a:r>
            <a:r>
              <a:rPr lang="en-IN" sz="2400" dirty="0" err="1">
                <a:latin typeface="Times New Roman" panose="02020603050405020304" pitchFamily="18" charset="0"/>
                <a:cs typeface="Times New Roman" panose="02020603050405020304" pitchFamily="18" charset="0"/>
              </a:rPr>
              <a:t>EfficientNet</a:t>
            </a:r>
            <a:r>
              <a:rPr lang="en-IN" sz="2400" dirty="0">
                <a:latin typeface="Times New Roman" panose="02020603050405020304" pitchFamily="18" charset="0"/>
                <a:cs typeface="Times New Roman" panose="02020603050405020304" pitchFamily="18" charset="0"/>
              </a:rPr>
              <a:t>, and Vision Transformers. These methods have shown improved accuracy compared to traditional image processing approaches. Explainable AI techniques such as Grad-CAM have also been introduced to visualize the regions responsible for model predictions. However, many existing systems focus on document classification without providing clear visual explanations, making their decisions difficult to interpret.</a:t>
            </a:r>
          </a:p>
        </p:txBody>
      </p:sp>
    </p:spTree>
    <p:extLst>
      <p:ext uri="{BB962C8B-B14F-4D97-AF65-F5344CB8AC3E}">
        <p14:creationId xmlns:p14="http://schemas.microsoft.com/office/powerpoint/2010/main" val="911565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37DA72-508F-81BB-D41B-986BF38E6E0C}"/>
              </a:ext>
            </a:extLst>
          </p:cNvPr>
          <p:cNvSpPr txBox="1"/>
          <p:nvPr/>
        </p:nvSpPr>
        <p:spPr>
          <a:xfrm>
            <a:off x="363894" y="711675"/>
            <a:ext cx="11271379" cy="3503844"/>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Limitations of Existing Algorithms/Methodologies:</a:t>
            </a:r>
          </a:p>
          <a:p>
            <a:pPr>
              <a:buNone/>
            </a:pPr>
            <a:endParaRPr lang="en-IN" sz="1400" b="1" dirty="0">
              <a:solidFill>
                <a:srgbClr val="FF0000"/>
              </a:solidFill>
            </a:endParaRP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verification is slow and depends on human expertise.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Traditional image processing techniques cannot detect complex digital manipulations.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Many deep learning models act as black boxes and do not explain their predictions.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Existing systems often fail to generalize across different types of financial documents.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Several methods require expensive computational resources or specialized datasets. </a:t>
            </a:r>
          </a:p>
        </p:txBody>
      </p:sp>
    </p:spTree>
    <p:extLst>
      <p:ext uri="{BB962C8B-B14F-4D97-AF65-F5344CB8AC3E}">
        <p14:creationId xmlns:p14="http://schemas.microsoft.com/office/powerpoint/2010/main" val="3023434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5AA603-4C79-20F1-FFED-B8478D6D57DE}"/>
              </a:ext>
            </a:extLst>
          </p:cNvPr>
          <p:cNvSpPr txBox="1"/>
          <p:nvPr/>
        </p:nvSpPr>
        <p:spPr>
          <a:xfrm>
            <a:off x="401215" y="559781"/>
            <a:ext cx="11579290" cy="5817362"/>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Abstract:</a:t>
            </a:r>
          </a:p>
          <a:p>
            <a:pPr>
              <a:buNone/>
            </a:pPr>
            <a:endParaRPr lang="en-IN" sz="1000" dirty="0"/>
          </a:p>
          <a:p>
            <a:pPr algn="just">
              <a:lnSpc>
                <a:spcPct val="140000"/>
              </a:lnSpc>
              <a:buNone/>
            </a:pPr>
            <a:r>
              <a:rPr lang="en-IN" sz="1700" dirty="0">
                <a:latin typeface="Times New Roman" panose="02020603050405020304" pitchFamily="18" charset="0"/>
                <a:cs typeface="Times New Roman" panose="02020603050405020304" pitchFamily="18" charset="0"/>
              </a:rPr>
              <a:t>Financial document tampering is a serious problem for banks, insurance companies and businesses. FinDoc AI detects tampered receipts and invoices and explains every decision. It is trained and evaluated on the public “Find it again!” dataset of 988 scanned receipts. Error Level Analysis (ELA) re-saves the page as JPEG and finds text regions whose compression error differs from the rest, which is typical of pasted or re-typed content. EfficientNetV2B0, fine-tuned on ELA maps, classifies the most suspicious regions, and Grad-CAM heatmaps with plain-language reasons explain the result. Typed Word, PowerPoint and digital PDF files are checked through their metadata. The Flask web application is deployed on Vercel and accepts images, camera photos, PDF, Word and PowerPoint files. On 218 test receipts the system reaches 71.10% accuracy and a document-level AUC of 79.16%, detecting 23 of 35 tampered receipts.</a:t>
            </a:r>
          </a:p>
        </p:txBody>
      </p:sp>
    </p:spTree>
    <p:extLst>
      <p:ext uri="{BB962C8B-B14F-4D97-AF65-F5344CB8AC3E}">
        <p14:creationId xmlns:p14="http://schemas.microsoft.com/office/powerpoint/2010/main" val="1286904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80C54B-98DE-C36E-DB94-130418C9C262}"/>
              </a:ext>
            </a:extLst>
          </p:cNvPr>
          <p:cNvSpPr txBox="1"/>
          <p:nvPr/>
        </p:nvSpPr>
        <p:spPr>
          <a:xfrm>
            <a:off x="307910" y="705177"/>
            <a:ext cx="11200000" cy="5201424"/>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Hardware Requirements:</a:t>
            </a:r>
          </a:p>
          <a:p>
            <a:pPr>
              <a:buNone/>
            </a:pPr>
            <a:endParaRPr lang="en-IN" sz="800" dirty="0"/>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Processor: Intel Core i5 or above</a:t>
            </a:r>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RAM: 8 GB (16 GB for training)</a:t>
            </a:r>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Storage: 10 GB free space</a:t>
            </a:r>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Camera (optional, for capturing documents)</a:t>
            </a:r>
          </a:p>
          <a:p>
            <a:pPr>
              <a:buNone/>
            </a:pPr>
            <a:endParaRPr lang="en-IN" sz="800" dirty="0"/>
          </a:p>
          <a:p>
            <a:pPr>
              <a:buNone/>
            </a:pPr>
            <a:r>
              <a:rPr lang="en-IN" sz="3200" b="1" dirty="0">
                <a:solidFill>
                  <a:schemeClr val="tx2"/>
                </a:solidFill>
                <a:latin typeface="Times New Roman" panose="02020603050405020304" pitchFamily="18" charset="0"/>
                <a:cs typeface="Times New Roman" panose="02020603050405020304" pitchFamily="18" charset="0"/>
              </a:rPr>
              <a:t>Software Requirements:</a:t>
            </a:r>
          </a:p>
          <a:p>
            <a:pPr>
              <a:buNone/>
            </a:pPr>
            <a:endParaRPr lang="en-IN" sz="800" dirty="0"/>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Windows 10/11, Python 3.10+ (tested with 3.13)</a:t>
            </a:r>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TensorFlow 2.20 with Keras 3.12 (EfficientNetV2B0)</a:t>
            </a:r>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Flask 3.1, HTML, CSS, JavaScript</a:t>
            </a:r>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Pillow, NumPy, PyMuPDF, scikit-learn, matplotlib</a:t>
            </a:r>
          </a:p>
          <a:p>
            <a:pPr marL="342900" lvl="0" indent="-342900">
              <a:lnSpc>
                <a:spcPct val="11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Microsoft Word / PowerPoint (for DOC, DOCX, PPT, PPTX files)</a:t>
            </a:r>
          </a:p>
        </p:txBody>
      </p:sp>
    </p:spTree>
    <p:extLst>
      <p:ext uri="{BB962C8B-B14F-4D97-AF65-F5344CB8AC3E}">
        <p14:creationId xmlns:p14="http://schemas.microsoft.com/office/powerpoint/2010/main" val="2783138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DDDB15-BA61-7721-B314-2893531D2498}"/>
              </a:ext>
            </a:extLst>
          </p:cNvPr>
          <p:cNvSpPr txBox="1"/>
          <p:nvPr/>
        </p:nvSpPr>
        <p:spPr>
          <a:xfrm>
            <a:off x="345232" y="406684"/>
            <a:ext cx="11364686" cy="5196615"/>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Conclusion and Future Scope:</a:t>
            </a:r>
          </a:p>
          <a:p>
            <a:pPr>
              <a:buNone/>
            </a:pPr>
            <a:endParaRPr lang="en-IN" sz="800" dirty="0"/>
          </a:p>
          <a:p>
            <a:pPr algn="just">
              <a:lnSpc>
                <a:spcPct val="130000"/>
              </a:lnSpc>
              <a:buNone/>
            </a:pPr>
            <a:r>
              <a:rPr lang="en-IN" sz="1800" dirty="0">
                <a:latin typeface="Times New Roman" panose="02020603050405020304" pitchFamily="18" charset="0"/>
                <a:cs typeface="Times New Roman" panose="02020603050405020304" pitchFamily="18" charset="0"/>
              </a:rPr>
              <a:t>FinDoc AI provides a complete, explainable pipeline: images, PDF, Word and PowerPoint files are analysed with Error Level Analysis and an EfficientNetV2B0 model trained on ELA maps, digital files are checked through their metadata, and every result is explained with heatmaps, Grad-CAM and reasons. On whole test receipts it reaches 71.10% accuracy and an AUC of 79.16%; it is an explainable screening aid, live at findoc-ai.vercel.app.</a:t>
            </a:r>
          </a:p>
          <a:p>
            <a:pPr>
              <a:buNone/>
            </a:pPr>
            <a:endParaRPr lang="en-IN" sz="600" dirty="0"/>
          </a:p>
          <a:p>
            <a:pPr marL="342900" lvl="0" indent="-342900">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 </a:t>
            </a:r>
            <a:r>
              <a:rPr lang="en-IN" sz="1800" dirty="0">
                <a:latin typeface="Times New Roman" panose="02020603050405020304" pitchFamily="18" charset="0"/>
                <a:cs typeface="Times New Roman" panose="02020603050405020304" pitchFamily="18" charset="0"/>
              </a:rPr>
              <a:t>More tampered training data, e.g. automatically generated forgeries</a:t>
            </a:r>
          </a:p>
          <a:p>
            <a:pPr marL="342900" lvl="0" indent="-342900">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Text checks: </a:t>
            </a:r>
            <a:r>
              <a:rPr lang="en-IN" sz="1800" dirty="0">
                <a:latin typeface="Times New Roman" panose="02020603050405020304" pitchFamily="18" charset="0"/>
                <a:cs typeface="Times New Roman" panose="02020603050405020304" pitchFamily="18" charset="0"/>
              </a:rPr>
              <a:t>OCR-based checks that item prices, totals and tax add up</a:t>
            </a:r>
          </a:p>
          <a:p>
            <a:pPr marL="342900" lvl="0" indent="-342900">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Forensics: </a:t>
            </a:r>
            <a:r>
              <a:rPr lang="en-IN" sz="1800" dirty="0">
                <a:latin typeface="Times New Roman" panose="02020603050405020304" pitchFamily="18" charset="0"/>
                <a:cs typeface="Times New Roman" panose="02020603050405020304" pitchFamily="18" charset="0"/>
              </a:rPr>
              <a:t>Copy-move and double-JPEG analysis for images compressed many times</a:t>
            </a:r>
          </a:p>
        </p:txBody>
      </p:sp>
    </p:spTree>
    <p:extLst>
      <p:ext uri="{BB962C8B-B14F-4D97-AF65-F5344CB8AC3E}">
        <p14:creationId xmlns:p14="http://schemas.microsoft.com/office/powerpoint/2010/main" val="872791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2800" b="1" dirty="0">
                <a:solidFill>
                  <a:schemeClr val="tx1"/>
                </a:solidFill>
                <a:latin typeface="Calibri" panose="020F0502020204030204" pitchFamily="34" charset="0"/>
                <a:cs typeface="Calibri" panose="020F0502020204030204" pitchFamily="34" charset="0"/>
              </a:rPr>
              <a:t>THANK YOU</a:t>
            </a:r>
            <a:endParaRPr lang="en-IN" sz="28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E53C02C5-5CF2-0687-A2A6-2DC363841C1F}"/>
              </a:ext>
            </a:extLst>
          </p:cNvPr>
          <p:cNvSpPr txBox="1"/>
          <p:nvPr/>
        </p:nvSpPr>
        <p:spPr>
          <a:xfrm>
            <a:off x="419876" y="700000"/>
            <a:ext cx="5300000"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Proposed System:</a:t>
            </a:r>
          </a:p>
          <a:p>
            <a:pPr>
              <a:buNone/>
            </a:pPr>
            <a:endParaRPr lang="en-IN" sz="800" dirty="0"/>
          </a:p>
          <a:p>
            <a:pPr marL="342900" lvl="0" indent="-342900">
              <a:lnSpc>
                <a:spcPct val="120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Upload an image, PDF, Word or PowerPoint file, or capture with the camera</a:t>
            </a:r>
          </a:p>
          <a:p>
            <a:pPr marL="342900" lvl="0" indent="-342900">
              <a:lnSpc>
                <a:spcPct val="120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Scanned pages: Error Level Analysis, re-saved as JPEG (quality 70) and compared</a:t>
            </a:r>
          </a:p>
          <a:p>
            <a:pPr marL="342900" lvl="0" indent="-342900">
              <a:lnSpc>
                <a:spcPct val="120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Score = how far the most unusual 64x64 text region differs (z-score); EfficientNetV2B0-ELA checks it</a:t>
            </a:r>
          </a:p>
          <a:p>
            <a:pPr marL="342900" lvl="0" indent="-342900">
              <a:lnSpc>
                <a:spcPct val="120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Grad-CAM heatmap, flagged regions and plain-language reasons</a:t>
            </a:r>
          </a:p>
          <a:p>
            <a:pPr marL="342900" lvl="0" indent="-342900">
              <a:lnSpc>
                <a:spcPct val="120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Digital files: metadata check (editor, dates, re-saves) instead of pixels</a:t>
            </a:r>
          </a:p>
        </p:txBody>
      </p:sp>
      <p:pic>
        <p:nvPicPr>
          <p:cNvPr id="4" name="Picture 3" descr="architecture.png"/>
          <p:cNvPicPr>
            <a:picLocks noChangeAspect="1"/>
          </p:cNvPicPr>
          <p:nvPr/>
        </p:nvPicPr>
        <p:blipFill>
          <a:blip r:embed="rId2"/>
          <a:stretch>
            <a:fillRect/>
          </a:stretch>
        </p:blipFill>
        <p:spPr>
          <a:xfrm>
            <a:off x="5850000" y="1250000"/>
            <a:ext cx="6000000" cy="357678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E53C02C5-5CF2-0687-A2A6-2DC363841C1F}"/>
              </a:ext>
            </a:extLst>
          </p:cNvPr>
          <p:cNvSpPr txBox="1"/>
          <p:nvPr/>
        </p:nvSpPr>
        <p:spPr>
          <a:xfrm>
            <a:off x="419876" y="700000"/>
            <a:ext cx="11300000"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Methodology:</a:t>
            </a:r>
          </a:p>
          <a:p>
            <a:pPr>
              <a:buNone/>
            </a:pPr>
            <a:endParaRPr lang="en-IN" sz="600" dirty="0"/>
          </a:p>
          <a:p>
            <a:pPr algn="just">
              <a:lnSpc>
                <a:spcPct val="130000"/>
              </a:lnSpc>
              <a:buNone/>
            </a:pPr>
            <a:r>
              <a:rPr lang="en-IN" sz="1700" dirty="0">
                <a:latin typeface="Times New Roman" panose="02020603050405020304" pitchFamily="18" charset="0"/>
                <a:cs typeface="Times New Roman" panose="02020603050405020304" pitchFamily="18" charset="0"/>
              </a:rPr>
              <a:t>ELA re-saves the page as JPEG and measures the re-compression error of every text pixel; edited areas were compressed a different number of times and stand out. EfficientNetV2B0 (ImageNet weights) is fine-tuned on 4,333 ELA patches (1,638 tampered), reaches 80.4% patch AUC, and runs in the web app with ONNX Runtime.</a:t>
            </a:r>
          </a:p>
        </p:txBody>
      </p:sp>
      <p:pic>
        <p:nvPicPr>
          <p:cNvPr id="4" name="Picture 3" descr="pipeline.png"/>
          <p:cNvPicPr>
            <a:picLocks noChangeAspect="1"/>
          </p:cNvPicPr>
          <p:nvPr/>
        </p:nvPicPr>
        <p:blipFill>
          <a:blip r:embed="rId2"/>
          <a:stretch>
            <a:fillRect/>
          </a:stretch>
        </p:blipFill>
        <p:spPr>
          <a:xfrm>
            <a:off x="900000" y="3050000"/>
            <a:ext cx="10400000" cy="318191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E53C02C5-5CF2-0687-A2A6-2DC363841C1F}"/>
              </a:ext>
            </a:extLst>
          </p:cNvPr>
          <p:cNvSpPr txBox="1"/>
          <p:nvPr/>
        </p:nvSpPr>
        <p:spPr>
          <a:xfrm>
            <a:off x="419876" y="700000"/>
            <a:ext cx="5600000"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Results on 218 Test Receipts:</a:t>
            </a:r>
          </a:p>
          <a:p>
            <a:pPr>
              <a:buNone/>
            </a:pPr>
            <a:endParaRPr lang="en-IN" sz="600" dirty="0"/>
          </a:p>
          <a:p>
            <a:pPr marL="342900" lvl="0" indent="-342900">
              <a:lnSpc>
                <a:spcPct val="125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Accuracy: 71.10%</a:t>
            </a:r>
          </a:p>
          <a:p>
            <a:pPr marL="342900" lvl="0" indent="-342900">
              <a:lnSpc>
                <a:spcPct val="125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Precision: 31.08%</a:t>
            </a:r>
          </a:p>
          <a:p>
            <a:pPr marL="342900" lvl="0" indent="-342900">
              <a:lnSpc>
                <a:spcPct val="125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Recall: 65.71%</a:t>
            </a:r>
          </a:p>
          <a:p>
            <a:pPr marL="342900" lvl="0" indent="-342900">
              <a:lnSpc>
                <a:spcPct val="125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F1-score: 42.20%</a:t>
            </a:r>
          </a:p>
          <a:p>
            <a:pPr marL="342900" lvl="0" indent="-342900">
              <a:lnSpc>
                <a:spcPct val="125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ROC-AUC: 79.16% (50% = random guessing)</a:t>
            </a:r>
          </a:p>
          <a:p>
            <a:pPr marL="342900" lvl="0" indent="-342900">
              <a:lnSpc>
                <a:spcPct val="125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Tampered receipts caught: 23 of 35</a:t>
            </a:r>
          </a:p>
          <a:p>
            <a:pPr marL="342900" lvl="0" indent="-342900">
              <a:lnSpc>
                <a:spcPct val="125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Genuine wrongly flagged: 51 of 183</a:t>
            </a:r>
          </a:p>
        </p:txBody>
      </p:sp>
      <p:pic>
        <p:nvPicPr>
          <p:cNvPr id="4" name="Picture 3" descr="metrics_chart.png"/>
          <p:cNvPicPr>
            <a:picLocks noChangeAspect="1"/>
          </p:cNvPicPr>
          <p:nvPr/>
        </p:nvPicPr>
        <p:blipFill>
          <a:blip r:embed="rId2"/>
          <a:stretch>
            <a:fillRect/>
          </a:stretch>
        </p:blipFill>
        <p:spPr>
          <a:xfrm>
            <a:off x="6150000" y="1500000"/>
            <a:ext cx="5700000" cy="306509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E53C02C5-5CF2-0687-A2A6-2DC363841C1F}"/>
              </a:ext>
            </a:extLst>
          </p:cNvPr>
          <p:cNvSpPr txBox="1"/>
          <p:nvPr/>
        </p:nvSpPr>
        <p:spPr>
          <a:xfrm>
            <a:off x="419876" y="700000"/>
            <a:ext cx="11300000"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Confusion Matrix and ROC Curve:</a:t>
            </a:r>
          </a:p>
        </p:txBody>
      </p:sp>
      <p:pic>
        <p:nvPicPr>
          <p:cNvPr id="4" name="Picture 3" descr="confusion_matrix.png"/>
          <p:cNvPicPr>
            <a:picLocks noChangeAspect="1"/>
          </p:cNvPicPr>
          <p:nvPr/>
        </p:nvPicPr>
        <p:blipFill>
          <a:blip r:embed="rId2"/>
          <a:stretch>
            <a:fillRect/>
          </a:stretch>
        </p:blipFill>
        <p:spPr>
          <a:xfrm>
            <a:off x="700000" y="1500000"/>
            <a:ext cx="4945000" cy="4300000"/>
          </a:xfrm>
          <a:prstGeom prst="rect">
            <a:avLst/>
          </a:prstGeom>
        </p:spPr>
      </p:pic>
      <p:pic>
        <p:nvPicPr>
          <p:cNvPr id="5" name="Picture 4" descr="roc_curve.png"/>
          <p:cNvPicPr>
            <a:picLocks noChangeAspect="1"/>
          </p:cNvPicPr>
          <p:nvPr/>
        </p:nvPicPr>
        <p:blipFill>
          <a:blip r:embed="rId3"/>
          <a:stretch>
            <a:fillRect/>
          </a:stretch>
        </p:blipFill>
        <p:spPr>
          <a:xfrm>
            <a:off x="6300000" y="1500000"/>
            <a:ext cx="4945000" cy="4300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E53C02C5-5CF2-0687-A2A6-2DC363841C1F}"/>
              </a:ext>
            </a:extLst>
          </p:cNvPr>
          <p:cNvSpPr txBox="1"/>
          <p:nvPr/>
        </p:nvSpPr>
        <p:spPr>
          <a:xfrm>
            <a:off x="419876" y="700000"/>
            <a:ext cx="11300000"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From 97.85% (Misleading) to a Working Detector:</a:t>
            </a:r>
          </a:p>
          <a:p>
            <a:pPr>
              <a:buNone/>
            </a:pPr>
            <a:endParaRPr lang="en-IN" sz="600" dirty="0"/>
          </a:p>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Initial CNN: tiny crops enlarged 3× vs large crops shrunk, so it learned the zoom level (97.85% on patches)</a:t>
            </a:r>
          </a:p>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Tested on whole receipts: 49.5% accuracy, AUC 0.44, i.e. chance level</a:t>
            </a:r>
          </a:p>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Retrained on same-scale pixel patches: still chance level (AUC 0.47, 110 of 183 genuine wrongly flagged)</a:t>
            </a:r>
          </a:p>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Final system with Error Level Analysis: 71.10% accuracy, AUC 79.16%, 51 of 183 genuine flagged</a:t>
            </a:r>
          </a:p>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Lesson: evaluate on whole documents, exactly as the application is used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E53C02C5-5CF2-0687-A2A6-2DC363841C1F}"/>
              </a:ext>
            </a:extLst>
          </p:cNvPr>
          <p:cNvSpPr txBox="1"/>
          <p:nvPr/>
        </p:nvSpPr>
        <p:spPr>
          <a:xfrm>
            <a:off x="419876" y="700000"/>
            <a:ext cx="11300000"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Screenshots – Tampered Receipt Detected:</a:t>
            </a:r>
          </a:p>
        </p:txBody>
      </p:sp>
      <p:pic>
        <p:nvPicPr>
          <p:cNvPr id="4" name="Picture 3" descr="shot_result_top.png"/>
          <p:cNvPicPr>
            <a:picLocks noChangeAspect="1"/>
          </p:cNvPicPr>
          <p:nvPr/>
        </p:nvPicPr>
        <p:blipFill>
          <a:blip r:embed="rId2"/>
          <a:stretch>
            <a:fillRect/>
          </a:stretch>
        </p:blipFill>
        <p:spPr>
          <a:xfrm>
            <a:off x="420000" y="1450000"/>
            <a:ext cx="5550000" cy="5074286"/>
          </a:xfrm>
          <a:prstGeom prst="rect">
            <a:avLst/>
          </a:prstGeom>
        </p:spPr>
      </p:pic>
      <p:pic>
        <p:nvPicPr>
          <p:cNvPr id="5" name="Picture 4" descr="shot_result_map.png"/>
          <p:cNvPicPr>
            <a:picLocks noChangeAspect="1"/>
          </p:cNvPicPr>
          <p:nvPr/>
        </p:nvPicPr>
        <p:blipFill>
          <a:blip r:embed="rId3"/>
          <a:stretch>
            <a:fillRect/>
          </a:stretch>
        </p:blipFill>
        <p:spPr>
          <a:xfrm>
            <a:off x="6150000" y="1450000"/>
            <a:ext cx="5600000" cy="4080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E53C02C5-5CF2-0687-A2A6-2DC363841C1F}"/>
              </a:ext>
            </a:extLst>
          </p:cNvPr>
          <p:cNvSpPr txBox="1"/>
          <p:nvPr/>
        </p:nvSpPr>
        <p:spPr>
          <a:xfrm>
            <a:off x="419876" y="700000"/>
            <a:ext cx="11300000"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Screenshots – Digital Files (PDF, Word, PowerPoint):</a:t>
            </a:r>
          </a:p>
        </p:txBody>
      </p:sp>
      <p:sp>
        <p:nvSpPr>
          <p:cNvPr id="3" name="TextBox 2">
            <a:extLst>
              <a:ext uri="{FF2B5EF4-FFF2-40B4-BE49-F238E27FC236}">
                <a16:creationId xmlns:a16="http://schemas.microsoft.com/office/drawing/2014/main" id="{E53C02C5-5CF2-0687-A2A6-2DC363841C1F}"/>
              </a:ext>
            </a:extLst>
          </p:cNvPr>
          <p:cNvSpPr txBox="1"/>
          <p:nvPr/>
        </p:nvSpPr>
        <p:spPr>
          <a:xfrm>
            <a:off x="419876" y="1500000"/>
            <a:ext cx="4600000" cy="5227393"/>
          </a:xfrm>
          <a:prstGeom prst="rect">
            <a:avLst/>
          </a:prstGeom>
          <a:noFill/>
        </p:spPr>
        <p:txBody>
          <a:bodyPr wrap="square">
            <a:spAutoFit/>
          </a:bodyPr>
          <a:lstStyle/>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Typed Word, PowerPoint and digital PDF files have no scan traces</a:t>
            </a:r>
          </a:p>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The system checks the file metadata instead</a:t>
            </a:r>
          </a:p>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Example: an invoice PDF whose amount was changed and re-saved with iLovePDF</a:t>
            </a:r>
          </a:p>
          <a:p>
            <a:pPr marL="342900" lvl="0" indent="-342900">
              <a:lnSpc>
                <a:spcPct val="125000"/>
              </a:lnSpc>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Result: 3 editing signals found</a:t>
            </a:r>
          </a:p>
        </p:txBody>
      </p:sp>
      <p:pic>
        <p:nvPicPr>
          <p:cNvPr id="4" name="Picture 3" descr="digital.png"/>
          <p:cNvPicPr>
            <a:picLocks noChangeAspect="1"/>
          </p:cNvPicPr>
          <p:nvPr/>
        </p:nvPicPr>
        <p:blipFill>
          <a:blip r:embed="rId2"/>
          <a:stretch>
            <a:fillRect/>
          </a:stretch>
        </p:blipFill>
        <p:spPr>
          <a:xfrm>
            <a:off x="5250000" y="1450000"/>
            <a:ext cx="6500000" cy="5339286"/>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