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07-08-2026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07-08-2026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07-08-2026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07-08-2026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66242" y="116429"/>
            <a:ext cx="12014522" cy="6382984"/>
          </a:xfrm>
        </p:spPr>
        <p:txBody>
          <a:bodyPr>
            <a:normAutofit fontScale="90000"/>
          </a:bodyPr>
          <a:lstStyle/>
          <a:p>
            <a:pPr algn="ctr" fontAlgn="ctr">
              <a:spcBef>
                <a:spcPts val="0"/>
              </a:spcBef>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24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Information Technology</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i="0" u="none" strike="noStrike" kern="1200" dirty="0">
                <a:solidFill>
                  <a:srgbClr val="0070C0"/>
                </a:solidFill>
                <a:effectLst/>
                <a:latin typeface="Arial" panose="020B0604020202020204" pitchFamily="34" charset="0"/>
              </a:rPr>
              <a:t>III </a:t>
            </a:r>
            <a:r>
              <a:rPr lang="en-US" sz="1800" b="1" i="0" u="none" strike="noStrike" kern="1200" dirty="0" err="1">
                <a:solidFill>
                  <a:srgbClr val="0070C0"/>
                </a:solidFill>
                <a:effectLst/>
                <a:latin typeface="Arial" panose="020B0604020202020204" pitchFamily="34" charset="0"/>
              </a:rPr>
              <a:t>B.Tech</a:t>
            </a:r>
            <a:r>
              <a:rPr lang="en-US" sz="1800" b="1" i="0" u="none" strike="noStrike" kern="1200" dirty="0">
                <a:solidFill>
                  <a:srgbClr val="0070C0"/>
                </a:solidFill>
                <a:effectLst/>
                <a:latin typeface="Arial" panose="020B0604020202020204" pitchFamily="34" charset="0"/>
              </a:rPr>
              <a:t> I Sem - AD</a:t>
            </a:r>
            <a:br>
              <a:rPr lang="en-IN" sz="2800" b="0" i="0" u="none" strike="noStrike" dirty="0">
                <a:effectLst/>
                <a:latin typeface="Arial" panose="020B0604020202020204" pitchFamily="34" charset="0"/>
              </a:rPr>
            </a:br>
            <a:r>
              <a:rPr lang="en-US" sz="1800" b="1" i="0" u="none" strike="noStrike" kern="1200" dirty="0">
                <a:solidFill>
                  <a:srgbClr val="0070C0"/>
                </a:solidFill>
                <a:effectLst/>
                <a:latin typeface="Arial" panose="020B0604020202020204" pitchFamily="34" charset="0"/>
              </a:rPr>
              <a:t>Industry Oriented Internship – Deep Learning Techniques Development            MR24-1IT0163</a:t>
            </a:r>
            <a:br>
              <a:rPr lang="en-IN" sz="2800" b="0" i="0" u="none" strike="noStrike" dirty="0">
                <a:effectLst/>
                <a:latin typeface="Arial" panose="020B0604020202020204" pitchFamily="34"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200" dirty="0"/>
              <a:t>Financial Document Tampering Detection System Using EfficientNetV2B0 and Grad-CAM</a:t>
            </a:r>
            <a:br>
              <a:rPr lang="en-IN" dirty="0"/>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no. 13</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2411IT010142 (</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M.Udayini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2411IT010063(</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C.Anjani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2411IT010063(</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C.Sai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Kiran)</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1981200" y="570229"/>
            <a:ext cx="7691718"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
        <p:nvSpPr>
          <p:cNvPr id="8" name="TextBox 7">
            <a:extLst>
              <a:ext uri="{FF2B5EF4-FFF2-40B4-BE49-F238E27FC236}">
                <a16:creationId xmlns:a16="http://schemas.microsoft.com/office/drawing/2014/main" id="{090C9F53-EED3-46E8-9963-1B608738BEB8}"/>
              </a:ext>
            </a:extLst>
          </p:cNvPr>
          <p:cNvSpPr txBox="1"/>
          <p:nvPr/>
        </p:nvSpPr>
        <p:spPr>
          <a:xfrm>
            <a:off x="741830" y="5312561"/>
            <a:ext cx="6127376" cy="646331"/>
          </a:xfrm>
          <a:prstGeom prst="rect">
            <a:avLst/>
          </a:prstGeom>
          <a:noFill/>
        </p:spPr>
        <p:txBody>
          <a:bodyPr wrap="square">
            <a:spAutoFit/>
          </a:bodyPr>
          <a:lstStyle/>
          <a:p>
            <a: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Guide </a:t>
            </a: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Mrs.G.Devi</a:t>
            </a:r>
            <a:r>
              <a:rPr lang="en-IN" b="1" dirty="0">
                <a:latin typeface="Times New Roman" panose="02020603050405020304" pitchFamily="18" charset="0"/>
                <a:ea typeface="Times New Roman" panose="02020603050405020304" pitchFamily="18" charset="0"/>
                <a:cs typeface="Times New Roman" panose="02020603050405020304" pitchFamily="18" charset="0"/>
              </a:rPr>
              <a:t> Priya</a:t>
            </a:r>
            <a:endParaRPr lang="en-IN" dirty="0"/>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TextBox 2"/>
          <p:cNvSpPr txBox="1"/>
          <p:nvPr/>
        </p:nvSpPr>
        <p:spPr>
          <a:xfrm>
            <a:off x="2177934" y="1524000"/>
            <a:ext cx="9404465" cy="3693319"/>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dirty="0"/>
              <a:t>Introduction</a:t>
            </a:r>
          </a:p>
          <a:p>
            <a:pPr marL="285750" indent="-285750">
              <a:lnSpc>
                <a:spcPct val="200000"/>
              </a:lnSpc>
              <a:buClr>
                <a:schemeClr val="tx2"/>
              </a:buClr>
              <a:buFont typeface="Wingdings" panose="05000000000000000000" pitchFamily="2" charset="2"/>
              <a:buChar char="Ø"/>
            </a:pPr>
            <a:r>
              <a:rPr lang="en-IN" dirty="0"/>
              <a:t>Literature Survey</a:t>
            </a:r>
          </a:p>
          <a:p>
            <a:pPr marL="285750" indent="-285750">
              <a:lnSpc>
                <a:spcPct val="200000"/>
              </a:lnSpc>
              <a:buClr>
                <a:schemeClr val="tx2"/>
              </a:buClr>
              <a:buFont typeface="Wingdings" panose="05000000000000000000" pitchFamily="2" charset="2"/>
              <a:buChar char="Ø"/>
            </a:pPr>
            <a:r>
              <a:rPr lang="en-IN" dirty="0"/>
              <a:t>Limitations of Existing Algorithms/Methodologies</a:t>
            </a:r>
          </a:p>
          <a:p>
            <a:pPr marL="285750" indent="-285750">
              <a:lnSpc>
                <a:spcPct val="200000"/>
              </a:lnSpc>
              <a:buClr>
                <a:schemeClr val="tx2"/>
              </a:buClr>
              <a:buFont typeface="Wingdings" panose="05000000000000000000" pitchFamily="2" charset="2"/>
              <a:buChar char="Ø"/>
            </a:pPr>
            <a:r>
              <a:rPr lang="en-IN" dirty="0"/>
              <a:t>Abstract</a:t>
            </a:r>
          </a:p>
          <a:p>
            <a:pPr marL="285750" indent="-285750">
              <a:lnSpc>
                <a:spcPct val="200000"/>
              </a:lnSpc>
              <a:buClr>
                <a:schemeClr val="tx2"/>
              </a:buClr>
              <a:buFont typeface="Wingdings" panose="05000000000000000000" pitchFamily="2" charset="2"/>
              <a:buChar char="Ø"/>
            </a:pPr>
            <a:r>
              <a:rPr lang="en-IN" dirty="0"/>
              <a:t>Hardware/Software Requirements</a:t>
            </a:r>
          </a:p>
          <a:p>
            <a:pPr marL="285750" indent="-285750">
              <a:lnSpc>
                <a:spcPct val="200000"/>
              </a:lnSpc>
              <a:buClr>
                <a:schemeClr val="tx2"/>
              </a:buClr>
              <a:buFont typeface="Wingdings" panose="05000000000000000000" pitchFamily="2" charset="2"/>
              <a:buChar char="Ø"/>
            </a:pPr>
            <a:r>
              <a:rPr lang="en-IN" dirty="0"/>
              <a:t>Conclusion</a:t>
            </a:r>
          </a:p>
          <a:p>
            <a:endParaRPr lang="en-IN"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3C02C5-5CF2-0687-A2A6-2DC363841C1F}"/>
              </a:ext>
            </a:extLst>
          </p:cNvPr>
          <p:cNvSpPr txBox="1"/>
          <p:nvPr/>
        </p:nvSpPr>
        <p:spPr>
          <a:xfrm>
            <a:off x="419876" y="761247"/>
            <a:ext cx="11411339" cy="5227393"/>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Introduction: </a:t>
            </a:r>
          </a:p>
          <a:p>
            <a:pPr>
              <a:buNone/>
            </a:pPr>
            <a:endParaRPr lang="en-IN" sz="1400" b="1" dirty="0"/>
          </a:p>
          <a:p>
            <a:pPr algn="just">
              <a:lnSpc>
                <a:spcPct val="150000"/>
              </a:lnSpc>
              <a:buNone/>
            </a:pPr>
            <a:r>
              <a:rPr lang="en-IN" sz="2400" dirty="0">
                <a:latin typeface="Times New Roman" panose="02020603050405020304" pitchFamily="18" charset="0"/>
                <a:cs typeface="Times New Roman" panose="02020603050405020304" pitchFamily="18" charset="0"/>
              </a:rPr>
              <a:t>Financial document fraud has become increasingly common with the widespread use of digital editing tools. Documents such as invoices, receipts, bank statements, and bills can be manipulated to alter financial information, resulting in significant losses for organizations. Traditional manual verification methods are time-consuming and prone to human error. This project proposes an Explainable AI-based system that automatically detects whether a financial document is genuine or tampered. The system uses EfficientNetV2B0 for document classification and Grad-CAM to highlight suspicious regions, making the prediction transparent and easy to understand.</a:t>
            </a:r>
          </a:p>
        </p:txBody>
      </p:sp>
    </p:spTree>
    <p:extLst>
      <p:ext uri="{BB962C8B-B14F-4D97-AF65-F5344CB8AC3E}">
        <p14:creationId xmlns:p14="http://schemas.microsoft.com/office/powerpoint/2010/main" val="1353200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8970A0-87A2-6EE5-03BA-544F7A45EBEB}"/>
              </a:ext>
            </a:extLst>
          </p:cNvPr>
          <p:cNvSpPr txBox="1"/>
          <p:nvPr/>
        </p:nvSpPr>
        <p:spPr>
          <a:xfrm>
            <a:off x="373225" y="675811"/>
            <a:ext cx="11262049" cy="4611840"/>
          </a:xfrm>
          <a:prstGeom prst="rect">
            <a:avLst/>
          </a:prstGeom>
          <a:noFill/>
        </p:spPr>
        <p:txBody>
          <a:bodyPr wrap="square">
            <a:spAutoFit/>
          </a:bodyPr>
          <a:lstStyle/>
          <a:p>
            <a:pPr algn="just">
              <a:buNone/>
            </a:pPr>
            <a:r>
              <a:rPr lang="en-IN" sz="3200" b="1" dirty="0">
                <a:solidFill>
                  <a:schemeClr val="tx2"/>
                </a:solidFill>
                <a:latin typeface="Times New Roman" panose="02020603050405020304" pitchFamily="18" charset="0"/>
                <a:cs typeface="Times New Roman" panose="02020603050405020304" pitchFamily="18" charset="0"/>
              </a:rPr>
              <a:t>Literature Survey:</a:t>
            </a:r>
          </a:p>
          <a:p>
            <a:pPr algn="just">
              <a:buNone/>
            </a:pPr>
            <a:endParaRPr lang="en-IN" sz="1400" b="1" dirty="0"/>
          </a:p>
          <a:p>
            <a:pPr algn="just">
              <a:lnSpc>
                <a:spcPct val="150000"/>
              </a:lnSpc>
              <a:buNone/>
            </a:pPr>
            <a:r>
              <a:rPr lang="en-IN" sz="2400" dirty="0">
                <a:latin typeface="Times New Roman" panose="02020603050405020304" pitchFamily="18" charset="0"/>
                <a:cs typeface="Times New Roman" panose="02020603050405020304" pitchFamily="18" charset="0"/>
              </a:rPr>
              <a:t>Several researchers have applied deep learning techniques to document forgery detection using Convolutional Neural Networks (CNNs), </a:t>
            </a:r>
            <a:r>
              <a:rPr lang="en-IN" sz="2400" dirty="0" err="1">
                <a:latin typeface="Times New Roman" panose="02020603050405020304" pitchFamily="18" charset="0"/>
                <a:cs typeface="Times New Roman" panose="02020603050405020304" pitchFamily="18" charset="0"/>
              </a:rPr>
              <a:t>EfficientNet</a:t>
            </a:r>
            <a:r>
              <a:rPr lang="en-IN" sz="2400" dirty="0">
                <a:latin typeface="Times New Roman" panose="02020603050405020304" pitchFamily="18" charset="0"/>
                <a:cs typeface="Times New Roman" panose="02020603050405020304" pitchFamily="18" charset="0"/>
              </a:rPr>
              <a:t>, and Vision Transformers. These methods have shown improved accuracy compared to traditional image processing approaches. Explainable AI techniques such as Grad-CAM have also been introduced to visualize the regions responsible for model predictions. However, many existing systems focus on document classification without providing clear visual explanations, making their decisions difficult to interpret.</a:t>
            </a:r>
          </a:p>
        </p:txBody>
      </p:sp>
    </p:spTree>
    <p:extLst>
      <p:ext uri="{BB962C8B-B14F-4D97-AF65-F5344CB8AC3E}">
        <p14:creationId xmlns:p14="http://schemas.microsoft.com/office/powerpoint/2010/main" val="911565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7DA72-508F-81BB-D41B-986BF38E6E0C}"/>
              </a:ext>
            </a:extLst>
          </p:cNvPr>
          <p:cNvSpPr txBox="1"/>
          <p:nvPr/>
        </p:nvSpPr>
        <p:spPr>
          <a:xfrm>
            <a:off x="363894" y="711675"/>
            <a:ext cx="11271379" cy="3503844"/>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Limitations of Existing Algorithms/Methodologies:</a:t>
            </a:r>
          </a:p>
          <a:p>
            <a:pPr>
              <a:buNone/>
            </a:pPr>
            <a:endParaRPr lang="en-IN" sz="1400" b="1" dirty="0">
              <a:solidFill>
                <a:srgbClr val="FF0000"/>
              </a:solidFill>
            </a:endParaRP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verification is slow and depends on human expertise.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Traditional image processing techniques cannot detect complex digital manipulations.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Many deep learning models act as black boxes and do not explain their predictions.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systems often fail to generalize across different types of financial documents.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Several methods require expensive computational resources or specialized datasets. </a:t>
            </a:r>
          </a:p>
        </p:txBody>
      </p:sp>
    </p:spTree>
    <p:extLst>
      <p:ext uri="{BB962C8B-B14F-4D97-AF65-F5344CB8AC3E}">
        <p14:creationId xmlns:p14="http://schemas.microsoft.com/office/powerpoint/2010/main" val="3023434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5AA603-4C79-20F1-FFED-B8478D6D57DE}"/>
              </a:ext>
            </a:extLst>
          </p:cNvPr>
          <p:cNvSpPr txBox="1"/>
          <p:nvPr/>
        </p:nvSpPr>
        <p:spPr>
          <a:xfrm>
            <a:off x="401215" y="559781"/>
            <a:ext cx="11579290" cy="5817362"/>
          </a:xfrm>
          <a:prstGeom prst="rect">
            <a:avLst/>
          </a:prstGeom>
          <a:noFill/>
        </p:spPr>
        <p:txBody>
          <a:bodyPr wrap="square">
            <a:spAutoFit/>
          </a:bodyPr>
          <a:lstStyle/>
          <a:p>
            <a:pPr algn="just">
              <a:buNone/>
            </a:pPr>
            <a:r>
              <a:rPr lang="en-IN" sz="3200" b="1" dirty="0">
                <a:solidFill>
                  <a:schemeClr val="tx2"/>
                </a:solidFill>
                <a:latin typeface="Times New Roman" panose="02020603050405020304" pitchFamily="18" charset="0"/>
                <a:cs typeface="Times New Roman" panose="02020603050405020304" pitchFamily="18" charset="0"/>
              </a:rPr>
              <a:t>Abstract:</a:t>
            </a:r>
          </a:p>
          <a:p>
            <a:pPr algn="just">
              <a:buNone/>
            </a:pPr>
            <a:endParaRPr lang="en-IN" sz="1400" b="1" dirty="0">
              <a:latin typeface="Times New Roman" panose="02020603050405020304" pitchFamily="18" charset="0"/>
              <a:cs typeface="Times New Roman" panose="02020603050405020304" pitchFamily="18" charset="0"/>
            </a:endParaRPr>
          </a:p>
          <a:p>
            <a:pPr algn="just">
              <a:lnSpc>
                <a:spcPct val="150000"/>
              </a:lnSpc>
              <a:buNone/>
            </a:pPr>
            <a:r>
              <a:rPr lang="en-IN" sz="2200" dirty="0">
                <a:latin typeface="Times New Roman" panose="02020603050405020304" pitchFamily="18" charset="0"/>
                <a:cs typeface="Times New Roman" panose="02020603050405020304" pitchFamily="18" charset="0"/>
              </a:rPr>
              <a:t>Financial document tampering has become a serious challenge for banks, insurance companies, and business organizations due to the increasing use of digitally manipulated invoices, receipts, bills, and financial records. Manual verification of these documents is time-consuming, error-prone, and inefficient. This project proposes an Explainable AI-based Financial Document Tampering Detection System using EfficientNetV2B0 and Grad-CAM to automatically identify genuine and tampered financial documents. The system utilizes a publicly available financial document image dataset containing training, validation, and testing samples. OpenCV is used for image preprocessing before classification by the EfficientNetV2B0 model. Grad-CAM generates visual heatmaps highlighting suspicious regions that influence the model's prediction, improving transparency and user trust. The application is developed using Flask, HTML, CSS, JavaScript, Bootstrap, and MySQL</a:t>
            </a:r>
            <a:r>
              <a:rPr lang="en-IN" sz="2200" dirty="0"/>
              <a:t>.</a:t>
            </a:r>
          </a:p>
        </p:txBody>
      </p:sp>
    </p:spTree>
    <p:extLst>
      <p:ext uri="{BB962C8B-B14F-4D97-AF65-F5344CB8AC3E}">
        <p14:creationId xmlns:p14="http://schemas.microsoft.com/office/powerpoint/2010/main" val="128690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80C54B-98DE-C36E-DB94-130418C9C262}"/>
              </a:ext>
            </a:extLst>
          </p:cNvPr>
          <p:cNvSpPr txBox="1"/>
          <p:nvPr/>
        </p:nvSpPr>
        <p:spPr>
          <a:xfrm>
            <a:off x="307910" y="705177"/>
            <a:ext cx="8838422" cy="5201424"/>
          </a:xfrm>
          <a:prstGeom prst="rect">
            <a:avLst/>
          </a:prstGeom>
          <a:noFill/>
        </p:spPr>
        <p:txBody>
          <a:bodyPr wrap="square">
            <a:spAutoFit/>
          </a:bodyPr>
          <a:lstStyle/>
          <a:p>
            <a:pPr>
              <a:buNone/>
            </a:pPr>
            <a:r>
              <a:rPr lang="en-IN" sz="3200" b="1" dirty="0">
                <a:solidFill>
                  <a:schemeClr val="tx2"/>
                </a:solidFill>
                <a:latin typeface="Times New Roman" panose="02020603050405020304" pitchFamily="18" charset="0"/>
                <a:cs typeface="Times New Roman" panose="02020603050405020304" pitchFamily="18" charset="0"/>
              </a:rPr>
              <a:t>Hardware Requirements:</a:t>
            </a:r>
          </a:p>
          <a:p>
            <a:pPr>
              <a:buNone/>
            </a:pPr>
            <a:endParaRPr lang="en-IN" sz="1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Processor: Intel Core i5 or above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RAM: 8 GB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Storage: 10 GB Free Space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Internet Connection </a:t>
            </a:r>
          </a:p>
          <a:p>
            <a:pPr lvl="0"/>
            <a:endParaRPr lang="en-IN" sz="2000" dirty="0">
              <a:latin typeface="Times New Roman" panose="02020603050405020304" pitchFamily="18" charset="0"/>
              <a:cs typeface="Times New Roman" panose="02020603050405020304" pitchFamily="18" charset="0"/>
            </a:endParaRPr>
          </a:p>
          <a:p>
            <a:pPr>
              <a:buNone/>
            </a:pPr>
            <a:r>
              <a:rPr lang="en-IN" sz="3200" b="1" dirty="0">
                <a:solidFill>
                  <a:schemeClr val="tx2"/>
                </a:solidFill>
                <a:latin typeface="Times New Roman" panose="02020603050405020304" pitchFamily="18" charset="0"/>
                <a:cs typeface="Times New Roman" panose="02020603050405020304" pitchFamily="18" charset="0"/>
              </a:rPr>
              <a:t>Software Requirements:</a:t>
            </a:r>
          </a:p>
          <a:p>
            <a:pPr>
              <a:buNone/>
            </a:pPr>
            <a:endParaRPr lang="en-IN" sz="1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Windows 10/11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 3.10+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Visual Studio Code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TensorFlow/</a:t>
            </a:r>
            <a:r>
              <a:rPr lang="en-IN" sz="2000" dirty="0" err="1">
                <a:latin typeface="Times New Roman" panose="02020603050405020304" pitchFamily="18" charset="0"/>
                <a:cs typeface="Times New Roman" panose="02020603050405020304" pitchFamily="18" charset="0"/>
              </a:rPr>
              <a:t>Keras</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Flask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OpenCV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MySQL</a:t>
            </a:r>
          </a:p>
        </p:txBody>
      </p:sp>
    </p:spTree>
    <p:extLst>
      <p:ext uri="{BB962C8B-B14F-4D97-AF65-F5344CB8AC3E}">
        <p14:creationId xmlns:p14="http://schemas.microsoft.com/office/powerpoint/2010/main" val="2783138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DDDB15-BA61-7721-B314-2893531D2498}"/>
              </a:ext>
            </a:extLst>
          </p:cNvPr>
          <p:cNvSpPr txBox="1"/>
          <p:nvPr/>
        </p:nvSpPr>
        <p:spPr>
          <a:xfrm>
            <a:off x="345232" y="406684"/>
            <a:ext cx="11364686" cy="5196615"/>
          </a:xfrm>
          <a:prstGeom prst="rect">
            <a:avLst/>
          </a:prstGeom>
          <a:noFill/>
        </p:spPr>
        <p:txBody>
          <a:bodyPr wrap="square">
            <a:spAutoFit/>
          </a:bodyPr>
          <a:lstStyle/>
          <a:p>
            <a:pPr algn="just">
              <a:lnSpc>
                <a:spcPct val="150000"/>
              </a:lnSpc>
              <a:buNone/>
            </a:pPr>
            <a:r>
              <a:rPr lang="en-IN" sz="3200" b="1" dirty="0">
                <a:solidFill>
                  <a:schemeClr val="tx2"/>
                </a:solidFill>
                <a:latin typeface="Times New Roman" panose="02020603050405020304" pitchFamily="18" charset="0"/>
                <a:cs typeface="Times New Roman" panose="02020603050405020304" pitchFamily="18" charset="0"/>
              </a:rPr>
              <a:t>Conclusion:</a:t>
            </a:r>
          </a:p>
          <a:p>
            <a:pPr algn="just">
              <a:lnSpc>
                <a:spcPct val="150000"/>
              </a:lnSpc>
              <a:buNone/>
            </a:pPr>
            <a:r>
              <a:rPr lang="en-IN" sz="2400" dirty="0">
                <a:latin typeface="Times New Roman" panose="02020603050405020304" pitchFamily="18" charset="0"/>
                <a:cs typeface="Times New Roman" panose="02020603050405020304" pitchFamily="18" charset="0"/>
              </a:rPr>
              <a:t>The proposed Explainable AI-Based Financial Document Tampering Detection System provides an efficient solution for identifying forged financial documents using deep learning. EfficientNetV2B0 accurately classifies documents as genuine or tampered, while Grad-CAM enhances transparency by highlighting the manipulated regions responsible for the prediction. The Flask-based web application enables users to upload documents, view predictions, and maintain a history of results. This system can assist financial institutions in reducing fraud, improving document verification, and supporting secure digital financial transactions.</a:t>
            </a:r>
          </a:p>
        </p:txBody>
      </p:sp>
    </p:spTree>
    <p:extLst>
      <p:ext uri="{BB962C8B-B14F-4D97-AF65-F5344CB8AC3E}">
        <p14:creationId xmlns:p14="http://schemas.microsoft.com/office/powerpoint/2010/main" val="87279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